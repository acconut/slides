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202729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202729"/>
        </a:fontRef>
        <a:srgbClr val="20272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CCD"/>
          </a:solidFill>
        </a:fill>
      </a:tcStyle>
    </a:wholeTbl>
    <a:band2H>
      <a:tcTxStyle b="def" i="def"/>
      <a:tcStyle>
        <a:tcBdr/>
        <a:fill>
          <a:solidFill>
            <a:srgbClr val="E7E7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202729"/>
        </a:fontRef>
        <a:srgbClr val="20272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 b="def" i="def"/>
      <a:tcStyle>
        <a:tcBdr/>
        <a:fill>
          <a:solidFill>
            <a:srgbClr val="EAEAE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202729"/>
        </a:fontRef>
        <a:srgbClr val="20272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AD5"/>
          </a:solidFill>
        </a:fill>
      </a:tcStyle>
    </a:wholeTbl>
    <a:band2H>
      <a:tcTxStyle b="def" i="def"/>
      <a:tcStyle>
        <a:tcBdr/>
        <a:fill>
          <a:solidFill>
            <a:srgbClr val="FFFCEB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202729"/>
        </a:fontRef>
        <a:srgbClr val="20272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202729"/>
        </a:fontRef>
        <a:srgbClr val="202729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02729"/>
              </a:solidFill>
              <a:prstDash val="solid"/>
              <a:round/>
            </a:ln>
          </a:top>
          <a:bottom>
            <a:ln w="25400" cap="flat">
              <a:solidFill>
                <a:srgbClr val="20272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02729"/>
              </a:solidFill>
              <a:prstDash val="solid"/>
              <a:round/>
            </a:ln>
          </a:top>
          <a:bottom>
            <a:ln w="25400" cap="flat">
              <a:solidFill>
                <a:srgbClr val="202729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202729"/>
        </a:fontRef>
        <a:srgbClr val="202729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BCB"/>
          </a:solidFill>
        </a:fill>
      </a:tcStyle>
    </a:wholeTbl>
    <a:band2H>
      <a:tcTxStyle b="def" i="def"/>
      <a:tcStyle>
        <a:tcBdr/>
        <a:fill>
          <a:solidFill>
            <a:srgbClr val="E7E7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0272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02729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0272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202729"/>
        </a:fontRef>
        <a:srgbClr val="202729"/>
      </a:tcTxStyle>
      <a:tcStyle>
        <a:tcBdr>
          <a:left>
            <a:ln w="12700" cap="flat">
              <a:solidFill>
                <a:srgbClr val="202729"/>
              </a:solidFill>
              <a:prstDash val="solid"/>
              <a:round/>
            </a:ln>
          </a:left>
          <a:right>
            <a:ln w="12700" cap="flat">
              <a:solidFill>
                <a:srgbClr val="202729"/>
              </a:solidFill>
              <a:prstDash val="solid"/>
              <a:round/>
            </a:ln>
          </a:right>
          <a:top>
            <a:ln w="12700" cap="flat">
              <a:solidFill>
                <a:srgbClr val="202729"/>
              </a:solidFill>
              <a:prstDash val="solid"/>
              <a:round/>
            </a:ln>
          </a:top>
          <a:bottom>
            <a:ln w="12700" cap="flat">
              <a:solidFill>
                <a:srgbClr val="202729"/>
              </a:solidFill>
              <a:prstDash val="solid"/>
              <a:round/>
            </a:ln>
          </a:bottom>
          <a:insideH>
            <a:ln w="12700" cap="flat">
              <a:solidFill>
                <a:srgbClr val="202729"/>
              </a:solidFill>
              <a:prstDash val="solid"/>
              <a:round/>
            </a:ln>
          </a:insideH>
          <a:insideV>
            <a:ln w="12700" cap="flat">
              <a:solidFill>
                <a:srgbClr val="202729"/>
              </a:solidFill>
              <a:prstDash val="solid"/>
              <a:round/>
            </a:ln>
          </a:insideV>
        </a:tcBdr>
        <a:fill>
          <a:solidFill>
            <a:srgbClr val="202729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202729"/>
        </a:fontRef>
        <a:srgbClr val="202729"/>
      </a:tcTxStyle>
      <a:tcStyle>
        <a:tcBdr>
          <a:left>
            <a:ln w="12700" cap="flat">
              <a:solidFill>
                <a:srgbClr val="202729"/>
              </a:solidFill>
              <a:prstDash val="solid"/>
              <a:round/>
            </a:ln>
          </a:left>
          <a:right>
            <a:ln w="12700" cap="flat">
              <a:solidFill>
                <a:srgbClr val="202729"/>
              </a:solidFill>
              <a:prstDash val="solid"/>
              <a:round/>
            </a:ln>
          </a:right>
          <a:top>
            <a:ln w="12700" cap="flat">
              <a:solidFill>
                <a:srgbClr val="202729"/>
              </a:solidFill>
              <a:prstDash val="solid"/>
              <a:round/>
            </a:ln>
          </a:top>
          <a:bottom>
            <a:ln w="12700" cap="flat">
              <a:solidFill>
                <a:srgbClr val="202729"/>
              </a:solidFill>
              <a:prstDash val="solid"/>
              <a:round/>
            </a:ln>
          </a:bottom>
          <a:insideH>
            <a:ln w="12700" cap="flat">
              <a:solidFill>
                <a:srgbClr val="202729"/>
              </a:solidFill>
              <a:prstDash val="solid"/>
              <a:round/>
            </a:ln>
          </a:insideH>
          <a:insideV>
            <a:ln w="12700" cap="flat">
              <a:solidFill>
                <a:srgbClr val="202729"/>
              </a:solidFill>
              <a:prstDash val="solid"/>
              <a:round/>
            </a:ln>
          </a:insideV>
        </a:tcBdr>
        <a:fill>
          <a:solidFill>
            <a:srgbClr val="202729">
              <a:alpha val="20000"/>
            </a:srgbClr>
          </a:solidFill>
        </a:fill>
      </a:tcStyle>
    </a:firstCol>
    <a:lastRow>
      <a:tcTxStyle b="on" i="off">
        <a:fontRef idx="minor">
          <a:srgbClr val="202729"/>
        </a:fontRef>
        <a:srgbClr val="202729"/>
      </a:tcTxStyle>
      <a:tcStyle>
        <a:tcBdr>
          <a:left>
            <a:ln w="12700" cap="flat">
              <a:solidFill>
                <a:srgbClr val="202729"/>
              </a:solidFill>
              <a:prstDash val="solid"/>
              <a:round/>
            </a:ln>
          </a:left>
          <a:right>
            <a:ln w="12700" cap="flat">
              <a:solidFill>
                <a:srgbClr val="202729"/>
              </a:solidFill>
              <a:prstDash val="solid"/>
              <a:round/>
            </a:ln>
          </a:right>
          <a:top>
            <a:ln w="50800" cap="flat">
              <a:solidFill>
                <a:srgbClr val="202729"/>
              </a:solidFill>
              <a:prstDash val="solid"/>
              <a:round/>
            </a:ln>
          </a:top>
          <a:bottom>
            <a:ln w="12700" cap="flat">
              <a:solidFill>
                <a:srgbClr val="202729"/>
              </a:solidFill>
              <a:prstDash val="solid"/>
              <a:round/>
            </a:ln>
          </a:bottom>
          <a:insideH>
            <a:ln w="12700" cap="flat">
              <a:solidFill>
                <a:srgbClr val="202729"/>
              </a:solidFill>
              <a:prstDash val="solid"/>
              <a:round/>
            </a:ln>
          </a:insideH>
          <a:insideV>
            <a:ln w="12700" cap="flat">
              <a:solidFill>
                <a:srgbClr val="202729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202729"/>
        </a:fontRef>
        <a:srgbClr val="202729"/>
      </a:tcTxStyle>
      <a:tcStyle>
        <a:tcBdr>
          <a:left>
            <a:ln w="12700" cap="flat">
              <a:solidFill>
                <a:srgbClr val="202729"/>
              </a:solidFill>
              <a:prstDash val="solid"/>
              <a:round/>
            </a:ln>
          </a:left>
          <a:right>
            <a:ln w="12700" cap="flat">
              <a:solidFill>
                <a:srgbClr val="202729"/>
              </a:solidFill>
              <a:prstDash val="solid"/>
              <a:round/>
            </a:ln>
          </a:right>
          <a:top>
            <a:ln w="12700" cap="flat">
              <a:solidFill>
                <a:srgbClr val="202729"/>
              </a:solidFill>
              <a:prstDash val="solid"/>
              <a:round/>
            </a:ln>
          </a:top>
          <a:bottom>
            <a:ln w="25400" cap="flat">
              <a:solidFill>
                <a:srgbClr val="202729"/>
              </a:solidFill>
              <a:prstDash val="solid"/>
              <a:round/>
            </a:ln>
          </a:bottom>
          <a:insideH>
            <a:ln w="12700" cap="flat">
              <a:solidFill>
                <a:srgbClr val="202729"/>
              </a:solidFill>
              <a:prstDash val="solid"/>
              <a:round/>
            </a:ln>
          </a:insideH>
          <a:insideV>
            <a:ln w="12700" cap="flat">
              <a:solidFill>
                <a:srgbClr val="202729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Shape 11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0" name="Shape 1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57200" indent="-298450">
              <a:buClr>
                <a:srgbClr val="000000"/>
              </a:buClr>
              <a:buSzPts val="1100"/>
              <a:buFont typeface="Arial"/>
              <a:buChar char="-"/>
              <a:defRPr sz="1100"/>
            </a:lvl1pPr>
          </a:lstStyle>
          <a:p>
            <a:pPr/>
            <a:r>
              <a:t>tus is used by Polish firefigthers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;p2"/>
          <p:cNvSpPr/>
          <p:nvPr/>
        </p:nvSpPr>
        <p:spPr>
          <a:xfrm>
            <a:off x="0" y="2998149"/>
            <a:ext cx="9144001" cy="1"/>
          </a:xfrm>
          <a:prstGeom prst="line">
            <a:avLst/>
          </a:prstGeom>
          <a:ln w="19050">
            <a:solidFill>
              <a:srgbClr val="00806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" name="Title Text"/>
          <p:cNvSpPr txBox="1"/>
          <p:nvPr>
            <p:ph type="title"/>
          </p:nvPr>
        </p:nvSpPr>
        <p:spPr>
          <a:xfrm>
            <a:off x="510449" y="1252197"/>
            <a:ext cx="8123102" cy="1588501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510449" y="3151695"/>
            <a:ext cx="8123102" cy="630002"/>
          </a:xfrm>
          <a:prstGeom prst="rect">
            <a:avLst/>
          </a:prstGeom>
        </p:spPr>
        <p:txBody>
          <a:bodyPr/>
          <a:lstStyle>
            <a:lvl1pPr marL="342900" indent="-228600">
              <a:lnSpc>
                <a:spcPct val="100000"/>
              </a:lnSpc>
              <a:buClrTx/>
              <a:buSzTx/>
              <a:buFontTx/>
              <a:buNone/>
              <a:defRPr sz="2400"/>
            </a:lvl1pPr>
            <a:lvl2pPr marL="342900" indent="254000">
              <a:lnSpc>
                <a:spcPct val="100000"/>
              </a:lnSpc>
              <a:buClrTx/>
              <a:buSzTx/>
              <a:buFontTx/>
              <a:buNone/>
              <a:defRPr sz="2400"/>
            </a:lvl2pPr>
            <a:lvl3pPr marL="342900" indent="711200">
              <a:lnSpc>
                <a:spcPct val="100000"/>
              </a:lnSpc>
              <a:buClrTx/>
              <a:buSzTx/>
              <a:buFontTx/>
              <a:buNone/>
              <a:defRPr sz="2400"/>
            </a:lvl3pPr>
            <a:lvl4pPr marL="342900" indent="1168400">
              <a:lnSpc>
                <a:spcPct val="100000"/>
              </a:lnSpc>
              <a:buClrTx/>
              <a:buSzTx/>
              <a:buFontTx/>
              <a:buNone/>
              <a:defRPr sz="2400"/>
            </a:lvl4pPr>
            <a:lvl5pPr marL="342900" indent="1625600">
              <a:lnSpc>
                <a:spcPct val="100000"/>
              </a:lnSpc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16;p3"/>
          <p:cNvSpPr/>
          <p:nvPr/>
        </p:nvSpPr>
        <p:spPr>
          <a:xfrm>
            <a:off x="0" y="2998149"/>
            <a:ext cx="9144001" cy="1"/>
          </a:xfrm>
          <a:prstGeom prst="line">
            <a:avLst/>
          </a:prstGeom>
          <a:ln w="19050">
            <a:solidFill>
              <a:srgbClr val="63D29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3" name="Title Text"/>
          <p:cNvSpPr txBox="1"/>
          <p:nvPr>
            <p:ph type="title"/>
          </p:nvPr>
        </p:nvSpPr>
        <p:spPr>
          <a:xfrm>
            <a:off x="510449" y="2057400"/>
            <a:ext cx="8123102" cy="778800"/>
          </a:xfrm>
          <a:prstGeom prst="rect">
            <a:avLst/>
          </a:prstGeom>
        </p:spPr>
        <p:txBody>
          <a:bodyPr anchor="b"/>
          <a:lstStyle>
            <a:lvl1pPr>
              <a:defRPr sz="3600"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" name="Slide Number"/>
          <p:cNvSpPr txBox="1"/>
          <p:nvPr>
            <p:ph type="sldNum" sz="quarter" idx="2"/>
          </p:nvPr>
        </p:nvSpPr>
        <p:spPr>
          <a:xfrm>
            <a:off x="8704831" y="4692391"/>
            <a:ext cx="316328" cy="335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1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Google Shape;27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buFont typeface="Proxima Nova"/>
              <a:defRPr sz="1400">
                <a:latin typeface="Proxima Nova"/>
                <a:ea typeface="Proxima Nova"/>
                <a:cs typeface="Proxima Nova"/>
                <a:sym typeface="Proxima Nova"/>
              </a:defRPr>
            </a:pPr>
          </a:p>
        </p:txBody>
      </p:sp>
      <p:sp>
        <p:nvSpPr>
          <p:cNvPr id="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1" name="Slide Number"/>
          <p:cNvSpPr txBox="1"/>
          <p:nvPr>
            <p:ph type="sldNum" sz="quarter" idx="2"/>
          </p:nvPr>
        </p:nvSpPr>
        <p:spPr>
          <a:xfrm>
            <a:off x="8704831" y="4692391"/>
            <a:ext cx="316328" cy="335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_COLUMN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9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Clr>
                <a:schemeClr val="accent3"/>
              </a:buClr>
              <a:buSzPts val="1200"/>
              <a:buFont typeface="Proxima Nova"/>
              <a:defRPr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indent="-304800">
              <a:buClr>
                <a:schemeClr val="accent3"/>
              </a:buClr>
              <a:buSzPts val="1200"/>
              <a:buFont typeface="Proxima Nova"/>
              <a:defRPr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indent="-304800">
              <a:buClr>
                <a:schemeClr val="accent3"/>
              </a:buClr>
              <a:buSzPts val="1200"/>
              <a:buFont typeface="Proxima Nova"/>
              <a:defRPr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indent="-304800">
              <a:buClr>
                <a:schemeClr val="accent3"/>
              </a:buClr>
              <a:buSzPts val="1200"/>
              <a:buFont typeface="Proxima Nova"/>
              <a:defRPr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indent="-304800">
              <a:buClr>
                <a:schemeClr val="accent3"/>
              </a:buClr>
              <a:buSzPts val="1200"/>
              <a:buFont typeface="Proxima Nova"/>
              <a:defRPr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8704831" y="4692391"/>
            <a:ext cx="316328" cy="335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MAIN_POINT">
    <p:bg>
      <p:bgPr>
        <a:solidFill>
          <a:srgbClr val="63D29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/>
          <p:nvPr>
            <p:ph type="title"/>
          </p:nvPr>
        </p:nvSpPr>
        <p:spPr>
          <a:xfrm>
            <a:off x="490250" y="526349"/>
            <a:ext cx="5797501" cy="4090801"/>
          </a:xfrm>
          <a:prstGeom prst="rect">
            <a:avLst/>
          </a:prstGeom>
        </p:spPr>
        <p:txBody>
          <a:bodyPr anchor="ctr"/>
          <a:lstStyle>
            <a:lvl1pPr>
              <a:defRPr sz="4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8704831" y="4692391"/>
            <a:ext cx="316328" cy="335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_TITLE_AND_DESCRI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41;p9"/>
          <p:cNvSpPr/>
          <p:nvPr/>
        </p:nvSpPr>
        <p:spPr>
          <a:xfrm>
            <a:off x="4572000" y="74"/>
            <a:ext cx="4572000" cy="5143501"/>
          </a:xfrm>
          <a:prstGeom prst="rect">
            <a:avLst/>
          </a:prstGeom>
          <a:solidFill>
            <a:srgbClr val="20272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76" name="Google Shape;42;p9"/>
          <p:cNvSpPr/>
          <p:nvPr/>
        </p:nvSpPr>
        <p:spPr>
          <a:xfrm>
            <a:off x="5029675" y="4495500"/>
            <a:ext cx="468301" cy="1"/>
          </a:xfrm>
          <a:prstGeom prst="line">
            <a:avLst/>
          </a:prstGeom>
          <a:ln w="19050">
            <a:solidFill>
              <a:srgbClr val="63D297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7" name="Title Text"/>
          <p:cNvSpPr txBox="1"/>
          <p:nvPr>
            <p:ph type="title"/>
          </p:nvPr>
        </p:nvSpPr>
        <p:spPr>
          <a:xfrm>
            <a:off x="265500" y="1205825"/>
            <a:ext cx="4045200" cy="1509601"/>
          </a:xfrm>
          <a:prstGeom prst="rect">
            <a:avLst/>
          </a:prstGeom>
        </p:spPr>
        <p:txBody>
          <a:bodyPr anchor="b"/>
          <a:lstStyle>
            <a:lvl1pPr algn="ctr">
              <a:defRPr sz="4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8" name="Body Level One…"/>
          <p:cNvSpPr txBox="1"/>
          <p:nvPr>
            <p:ph type="body" sz="quarter" idx="1"/>
          </p:nvPr>
        </p:nvSpPr>
        <p:spPr>
          <a:xfrm>
            <a:off x="265500" y="2769000"/>
            <a:ext cx="4045200" cy="13455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9" name="Google Shape;45;p9"/>
          <p:cNvSpPr txBox="1"/>
          <p:nvPr>
            <p:ph type="body" sz="half" idx="21"/>
          </p:nvPr>
        </p:nvSpPr>
        <p:spPr>
          <a:xfrm>
            <a:off x="4939500" y="724199"/>
            <a:ext cx="3837000" cy="3695101"/>
          </a:xfrm>
          <a:prstGeom prst="rect">
            <a:avLst/>
          </a:prstGeom>
        </p:spPr>
        <p:txBody>
          <a:bodyPr anchor="ctr"/>
          <a:lstStyle/>
          <a:p>
            <a:pPr>
              <a:buClr>
                <a:srgbClr val="FFFFFF"/>
              </a:buClr>
              <a:buFont typeface="Proxima Nova"/>
              <a:defRPr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pPr>
          </a:p>
        </p:txBody>
      </p:sp>
      <p:sp>
        <p:nvSpPr>
          <p:cNvPr id="80" name="Slide Number"/>
          <p:cNvSpPr txBox="1"/>
          <p:nvPr>
            <p:ph type="sldNum" sz="quarter" idx="2"/>
          </p:nvPr>
        </p:nvSpPr>
        <p:spPr>
          <a:xfrm>
            <a:off x="8704831" y="4692391"/>
            <a:ext cx="316328" cy="335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APTION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311699" y="4236825"/>
            <a:ext cx="5998802" cy="5988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1073150" indent="-476250">
              <a:lnSpc>
                <a:spcPct val="100000"/>
              </a:lnSpc>
              <a:buClrTx/>
              <a:buSzPts val="2100"/>
              <a:buFontTx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530350" indent="-476250">
              <a:lnSpc>
                <a:spcPct val="100000"/>
              </a:lnSpc>
              <a:buClrTx/>
              <a:buSzPts val="2100"/>
              <a:buFontTx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987550" indent="-476250">
              <a:lnSpc>
                <a:spcPct val="100000"/>
              </a:lnSpc>
              <a:buClrTx/>
              <a:buSzPts val="2100"/>
              <a:buFontTx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444750" indent="-476250">
              <a:lnSpc>
                <a:spcPct val="100000"/>
              </a:lnSpc>
              <a:buClrTx/>
              <a:buSzPts val="2100"/>
              <a:buFontTx/>
              <a:defRPr sz="21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xfrm>
            <a:off x="8704831" y="4692391"/>
            <a:ext cx="316328" cy="335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IG_NUMB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51;p11"/>
          <p:cNvSpPr/>
          <p:nvPr/>
        </p:nvSpPr>
        <p:spPr>
          <a:xfrm>
            <a:off x="0" y="5045700"/>
            <a:ext cx="9144000" cy="97801"/>
          </a:xfrm>
          <a:prstGeom prst="rect">
            <a:avLst/>
          </a:prstGeom>
          <a:solidFill>
            <a:srgbClr val="63D297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96" name="xx%"/>
          <p:cNvSpPr txBox="1"/>
          <p:nvPr>
            <p:ph type="title" hasCustomPrompt="1"/>
          </p:nvPr>
        </p:nvSpPr>
        <p:spPr>
          <a:xfrm>
            <a:off x="311699" y="991475"/>
            <a:ext cx="8520602" cy="1917901"/>
          </a:xfrm>
          <a:prstGeom prst="rect">
            <a:avLst/>
          </a:prstGeom>
        </p:spPr>
        <p:txBody>
          <a:bodyPr anchor="ctr"/>
          <a:lstStyle>
            <a:lvl1pPr algn="ctr">
              <a:defRPr b="1" sz="14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97" name="Body Level One…"/>
          <p:cNvSpPr txBox="1"/>
          <p:nvPr>
            <p:ph type="body" sz="quarter" idx="1"/>
          </p:nvPr>
        </p:nvSpPr>
        <p:spPr>
          <a:xfrm>
            <a:off x="311699" y="3071299"/>
            <a:ext cx="8520602" cy="901801"/>
          </a:xfrm>
          <a:prstGeom prst="rect">
            <a:avLst/>
          </a:prstGeom>
        </p:spPr>
        <p:txBody>
          <a:bodyPr/>
          <a:lstStyle>
            <a:lvl1pPr algn="ctr">
              <a:buClr>
                <a:schemeClr val="accent3"/>
              </a:buClr>
              <a:buFont typeface="Proxima Nova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algn="ctr">
              <a:buClr>
                <a:schemeClr val="accent3"/>
              </a:buClr>
              <a:buFont typeface="Proxima Nova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algn="ctr">
              <a:buClr>
                <a:schemeClr val="accent3"/>
              </a:buClr>
              <a:buFont typeface="Proxima Nova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algn="ctr">
              <a:buClr>
                <a:schemeClr val="accent3"/>
              </a:buClr>
              <a:buFont typeface="Proxima Nova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algn="ctr">
              <a:buClr>
                <a:schemeClr val="accent3"/>
              </a:buClr>
              <a:buFont typeface="Proxima Nova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/>
          <p:nvPr>
            <p:ph type="sldNum" sz="quarter" idx="2"/>
          </p:nvPr>
        </p:nvSpPr>
        <p:spPr>
          <a:xfrm>
            <a:off x="8704831" y="4692391"/>
            <a:ext cx="316328" cy="335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Number"/>
          <p:cNvSpPr txBox="1"/>
          <p:nvPr>
            <p:ph type="sldNum" sz="quarter" idx="2"/>
          </p:nvPr>
        </p:nvSpPr>
        <p:spPr>
          <a:xfrm>
            <a:off x="8704831" y="4692391"/>
            <a:ext cx="316328" cy="33525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;p4"/>
          <p:cNvSpPr/>
          <p:nvPr/>
        </p:nvSpPr>
        <p:spPr>
          <a:xfrm>
            <a:off x="0" y="-1"/>
            <a:ext cx="9144000" cy="97802"/>
          </a:xfrm>
          <a:prstGeom prst="rect">
            <a:avLst/>
          </a:prstGeom>
          <a:solidFill>
            <a:srgbClr val="008067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solidFill>
                  <a:srgbClr val="000000"/>
                </a:solidFill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8680376" y="4679691"/>
            <a:ext cx="340783" cy="3606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FFFFF"/>
          </a:solidFill>
          <a:uFillTx/>
          <a:latin typeface="Crimson Text Regular"/>
          <a:ea typeface="Crimson Text Regular"/>
          <a:cs typeface="Crimson Text Regular"/>
          <a:sym typeface="Crimson Text Regular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●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○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■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●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○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■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●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○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D9D9D9"/>
        </a:buClr>
        <a:buSzPts val="1800"/>
        <a:buFont typeface="Open Sans Regular Regular"/>
        <a:buChar char="■"/>
        <a:tabLst/>
        <a:defRPr b="0" baseline="0" cap="none" i="0" spc="0" strike="noStrike" sz="1800" u="none">
          <a:solidFill>
            <a:srgbClr val="D9D9D9"/>
          </a:solidFill>
          <a:uFillTx/>
          <a:latin typeface="Open Sans Regular Regular"/>
          <a:ea typeface="Open Sans Regular Regular"/>
          <a:cs typeface="Open Sans Regular Regular"/>
          <a:sym typeface="Open Sans Regular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Open Sans Regular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getstream.io" TargetMode="External"/><Relationship Id="rId3" Type="http://schemas.openxmlformats.org/officeDocument/2006/relationships/hyperlink" Target="http://mariuskleidl.net" TargetMode="External"/><Relationship Id="rId4" Type="http://schemas.openxmlformats.org/officeDocument/2006/relationships/hyperlink" Target="mailto:hello@mariuskleidl.net" TargetMode="External"/><Relationship Id="rId5" Type="http://schemas.openxmlformats.org/officeDocument/2006/relationships/hyperlink" Target="https://www.linkedin.com/in/marius-kleidl" TargetMode="External"/><Relationship Id="rId6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whatwg/fetch/issues/1626" TargetMode="Externa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tus.io" TargetMode="External"/><Relationship Id="rId3" Type="http://schemas.openxmlformats.org/officeDocument/2006/relationships/hyperlink" Target="http://mariuskleidl.net" TargetMode="External"/><Relationship Id="rId4" Type="http://schemas.openxmlformats.org/officeDocument/2006/relationships/hyperlink" Target="mailto:hello@mariuskleidl.net" TargetMode="External"/><Relationship Id="rId5" Type="http://schemas.openxmlformats.org/officeDocument/2006/relationships/hyperlink" Target="https://www.linkedin.com/in/marius-kleidl" TargetMode="External"/><Relationship Id="rId6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61;p13"/>
          <p:cNvSpPr txBox="1"/>
          <p:nvPr>
            <p:ph type="ctrTitle"/>
          </p:nvPr>
        </p:nvSpPr>
        <p:spPr>
          <a:xfrm>
            <a:off x="510449" y="1252196"/>
            <a:ext cx="8123102" cy="1588502"/>
          </a:xfrm>
          <a:prstGeom prst="rect">
            <a:avLst/>
          </a:prstGeom>
        </p:spPr>
        <p:txBody>
          <a:bodyPr/>
          <a:lstStyle/>
          <a:p>
            <a:pPr defTabSz="905255">
              <a:defRPr sz="4257"/>
            </a:pPr>
            <a:r>
              <a:t>Resumable uploads on the web:</a:t>
            </a:r>
          </a:p>
          <a:p>
            <a:pPr defTabSz="905255">
              <a:defRPr sz="4257"/>
            </a:pPr>
            <a:r>
              <a:t>past, present and future</a:t>
            </a:r>
          </a:p>
        </p:txBody>
      </p:sp>
      <p:sp>
        <p:nvSpPr>
          <p:cNvPr id="115" name="Google Shape;62;p13"/>
          <p:cNvSpPr txBox="1"/>
          <p:nvPr>
            <p:ph type="subTitle" sz="quarter" idx="1"/>
          </p:nvPr>
        </p:nvSpPr>
        <p:spPr>
          <a:xfrm>
            <a:off x="510449" y="3182334"/>
            <a:ext cx="8123102" cy="1155002"/>
          </a:xfrm>
          <a:prstGeom prst="rect">
            <a:avLst/>
          </a:prstGeom>
        </p:spPr>
        <p:txBody>
          <a:bodyPr/>
          <a:lstStyle>
            <a:lvl1pPr marL="0" indent="0"/>
          </a:lstStyle>
          <a:p>
            <a:pPr/>
            <a:r>
              <a:t>Marius Kleidl</a:t>
            </a:r>
          </a:p>
        </p:txBody>
      </p:sp>
      <p:sp>
        <p:nvSpPr>
          <p:cNvPr id="116" name="Google Shape;64;p13"/>
          <p:cNvSpPr txBox="1"/>
          <p:nvPr/>
        </p:nvSpPr>
        <p:spPr>
          <a:xfrm>
            <a:off x="510449" y="3884195"/>
            <a:ext cx="8123102" cy="96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>
              <a:lnSpc>
                <a:spcPct val="80000"/>
              </a:lnSpc>
              <a:defRPr sz="15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FOSDEM, Browser and web platform track</a:t>
            </a:r>
            <a:endParaRPr sz="2400"/>
          </a:p>
          <a:p>
            <a:pPr>
              <a:lnSpc>
                <a:spcPct val="80000"/>
              </a:lnSpc>
              <a:defRPr sz="15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31 January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69;p14"/>
          <p:cNvSpPr txBox="1"/>
          <p:nvPr>
            <p:ph type="title"/>
          </p:nvPr>
        </p:nvSpPr>
        <p:spPr>
          <a:xfrm>
            <a:off x="660574" y="1193475"/>
            <a:ext cx="8520602" cy="572701"/>
          </a:xfrm>
          <a:prstGeom prst="rect">
            <a:avLst/>
          </a:prstGeom>
        </p:spPr>
        <p:txBody>
          <a:bodyPr/>
          <a:lstStyle>
            <a:lvl1pPr defTabSz="676655">
              <a:defRPr sz="2294"/>
            </a:lvl1pPr>
          </a:lstStyle>
          <a:p>
            <a:pPr/>
            <a:r>
              <a:t>Hello, I’m Marius Kleidl 👋</a:t>
            </a:r>
          </a:p>
        </p:txBody>
      </p:sp>
      <p:sp>
        <p:nvSpPr>
          <p:cNvPr id="119" name="Google Shape;70;p14"/>
          <p:cNvSpPr txBox="1"/>
          <p:nvPr>
            <p:ph type="body" idx="1"/>
          </p:nvPr>
        </p:nvSpPr>
        <p:spPr>
          <a:xfrm>
            <a:off x="660574" y="1878507"/>
            <a:ext cx="8520602" cy="34164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Senior Backend Engineer @ </a:t>
            </a:r>
            <a:r>
              <a:rPr u="sng">
                <a:solidFill>
                  <a:srgbClr val="48AA92"/>
                </a:solidFill>
                <a:uFill>
                  <a:solidFill>
                    <a:srgbClr val="48AA92"/>
                  </a:solidFill>
                </a:uFill>
                <a:hlinkClick r:id="rId2" invalidUrl="" action="" tgtFrame="" tooltip="" history="1" highlightClick="0" endSnd="0"/>
              </a:rPr>
              <a:t>GetStream.io</a:t>
            </a:r>
            <a:r>
              <a:t> </a:t>
            </a:r>
          </a:p>
          <a:p>
            <a:pPr marL="0" indent="0">
              <a:spcBef>
                <a:spcPts val="1200"/>
              </a:spcBef>
              <a:buSzTx/>
              <a:buNone/>
            </a:pPr>
          </a:p>
          <a:p>
            <a:pPr marL="0" indent="0">
              <a:lnSpc>
                <a:spcPct val="100000"/>
              </a:lnSpc>
              <a:spcBef>
                <a:spcPts val="1200"/>
              </a:spcBef>
              <a:buSzTx/>
              <a:buNone/>
              <a:defRPr sz="1400">
                <a:solidFill>
                  <a:srgbClr val="FFFFFF"/>
                </a:solidFill>
              </a:defRPr>
            </a:pPr>
            <a:r>
              <a:t>🌐</a:t>
            </a:r>
            <a:r>
              <a:rPr>
                <a:solidFill>
                  <a:srgbClr val="D9D9D9"/>
                </a:solidFill>
              </a:rPr>
              <a:t> </a:t>
            </a:r>
            <a:r>
              <a:rPr u="sng">
                <a:solidFill>
                  <a:srgbClr val="48AA92"/>
                </a:solidFill>
                <a:uFill>
                  <a:solidFill>
                    <a:srgbClr val="48AA92"/>
                  </a:solidFill>
                </a:uFill>
                <a:hlinkClick r:id="rId3" invalidUrl="" action="" tgtFrame="" tooltip="" history="1" highlightClick="0" endSnd="0"/>
              </a:rPr>
              <a:t>mariuskleidl.net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SzTx/>
              <a:buNone/>
              <a:defRPr sz="1400"/>
            </a:pPr>
            <a:r>
              <a:t>📧 </a:t>
            </a:r>
            <a:r>
              <a:rPr u="sng">
                <a:solidFill>
                  <a:srgbClr val="48AA92"/>
                </a:solidFill>
                <a:uFill>
                  <a:solidFill>
                    <a:srgbClr val="48AA92"/>
                  </a:solidFill>
                </a:uFill>
                <a:hlinkClick r:id="rId4" invalidUrl="" action="" tgtFrame="" tooltip="" history="1" highlightClick="0" endSnd="0"/>
              </a:rPr>
              <a:t>hello@mariuskleidl.net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SzTx/>
              <a:buNone/>
              <a:defRPr sz="1400"/>
            </a:pPr>
            <a:r>
              <a:t>🟦 </a:t>
            </a:r>
            <a:r>
              <a:rPr u="sng">
                <a:solidFill>
                  <a:srgbClr val="48AA92"/>
                </a:solidFill>
                <a:uFill>
                  <a:solidFill>
                    <a:srgbClr val="48AA92"/>
                  </a:solidFill>
                </a:uFill>
                <a:hlinkClick r:id="rId5" invalidUrl="" action="" tgtFrame="" tooltip="" history="1" highlightClick="0" endSnd="0"/>
              </a:rPr>
              <a:t>linkedin.com/in/marius-kleidl</a:t>
            </a:r>
            <a:r>
              <a:t> </a:t>
            </a:r>
          </a:p>
        </p:txBody>
      </p:sp>
      <p:pic>
        <p:nvPicPr>
          <p:cNvPr id="120" name="profile.jpgGoogle Shape;71;p14" descr="profile.jpgGoogle Shape;71;p14"/>
          <p:cNvPicPr>
            <a:picLocks noChangeAspect="1"/>
          </p:cNvPicPr>
          <p:nvPr/>
        </p:nvPicPr>
        <p:blipFill>
          <a:blip r:embed="rId6">
            <a:extLst/>
          </a:blip>
          <a:srcRect l="0" t="0" r="6" b="6"/>
          <a:stretch>
            <a:fillRect/>
          </a:stretch>
        </p:blipFill>
        <p:spPr>
          <a:xfrm>
            <a:off x="5706450" y="1155743"/>
            <a:ext cx="2765823" cy="27658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2" y="0"/>
                </a:moveTo>
                <a:cubicBezTo>
                  <a:pt x="4836" y="0"/>
                  <a:pt x="0" y="4836"/>
                  <a:pt x="0" y="10802"/>
                </a:cubicBezTo>
                <a:cubicBezTo>
                  <a:pt x="0" y="16767"/>
                  <a:pt x="4836" y="21600"/>
                  <a:pt x="10802" y="21600"/>
                </a:cubicBezTo>
                <a:cubicBezTo>
                  <a:pt x="16767" y="21600"/>
                  <a:pt x="21600" y="16767"/>
                  <a:pt x="21600" y="10802"/>
                </a:cubicBezTo>
                <a:cubicBezTo>
                  <a:pt x="21600" y="4836"/>
                  <a:pt x="16767" y="0"/>
                  <a:pt x="10802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21" name="Google Shape;72;p14"/>
          <p:cNvSpPr txBox="1"/>
          <p:nvPr>
            <p:ph type="sldNum" sz="quarter" idx="2"/>
          </p:nvPr>
        </p:nvSpPr>
        <p:spPr>
          <a:xfrm>
            <a:off x="8752992" y="4679691"/>
            <a:ext cx="2681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77;p15"/>
          <p:cNvSpPr txBox="1"/>
          <p:nvPr>
            <p:ph type="body" sz="half" idx="1"/>
          </p:nvPr>
        </p:nvSpPr>
        <p:spPr>
          <a:xfrm>
            <a:off x="2351700" y="1394249"/>
            <a:ext cx="4440600" cy="235500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&lt;</a:t>
            </a:r>
            <a:r>
              <a:rPr>
                <a:solidFill>
                  <a:srgbClr val="A61C00"/>
                </a:solidFill>
              </a:rPr>
              <a:t>form</a:t>
            </a:r>
            <a:r>
              <a:t> </a:t>
            </a:r>
            <a:r>
              <a:rPr>
                <a:solidFill>
                  <a:srgbClr val="6AA84F"/>
                </a:solidFill>
              </a:rPr>
              <a:t>method</a:t>
            </a:r>
            <a:r>
              <a:t>="</a:t>
            </a:r>
            <a:r>
              <a:rPr>
                <a:solidFill>
                  <a:srgbClr val="3C78D8"/>
                </a:solidFill>
              </a:rPr>
              <a:t>post</a:t>
            </a:r>
            <a:r>
              <a:t>" </a:t>
            </a:r>
            <a:r>
              <a:rPr>
                <a:solidFill>
                  <a:srgbClr val="6AA84F"/>
                </a:solidFill>
              </a:rPr>
              <a:t>enctype</a:t>
            </a:r>
            <a:r>
              <a:t>="</a:t>
            </a:r>
            <a:r>
              <a:rPr>
                <a:solidFill>
                  <a:srgbClr val="3C78D8"/>
                </a:solidFill>
              </a:rPr>
              <a:t>multipart/form-data</a:t>
            </a:r>
            <a:r>
              <a:t>"&gt;</a:t>
            </a:r>
          </a:p>
          <a:p>
            <a:pPr marL="0" indent="457200">
              <a:spcBef>
                <a:spcPts val="1200"/>
              </a:spcBef>
              <a:buSzTx/>
              <a:buNone/>
              <a:defRPr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&lt;</a:t>
            </a:r>
            <a:r>
              <a:rPr>
                <a:solidFill>
                  <a:srgbClr val="A61C00"/>
                </a:solidFill>
              </a:rPr>
              <a:t>input</a:t>
            </a:r>
            <a:r>
              <a:t> </a:t>
            </a:r>
            <a:r>
              <a:rPr>
                <a:solidFill>
                  <a:srgbClr val="6AA84F"/>
                </a:solidFill>
              </a:rPr>
              <a:t>type</a:t>
            </a:r>
            <a:r>
              <a:t>="</a:t>
            </a:r>
            <a:r>
              <a:rPr>
                <a:solidFill>
                  <a:srgbClr val="3C78D8"/>
                </a:solidFill>
              </a:rPr>
              <a:t>file</a:t>
            </a:r>
            <a:r>
              <a:t>" /&gt;</a:t>
            </a:r>
          </a:p>
          <a:p>
            <a:pPr marL="0" indent="0">
              <a:spcBef>
                <a:spcPts val="1200"/>
              </a:spcBef>
              <a:buSzTx/>
              <a:buNone/>
              <a:defRPr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   &lt;</a:t>
            </a:r>
            <a:r>
              <a:rPr>
                <a:solidFill>
                  <a:srgbClr val="A61C00"/>
                </a:solidFill>
              </a:rPr>
              <a:t>button</a:t>
            </a:r>
            <a:r>
              <a:t>&gt;Upload&lt;/</a:t>
            </a:r>
            <a:r>
              <a:rPr>
                <a:solidFill>
                  <a:srgbClr val="A61C00"/>
                </a:solidFill>
              </a:rPr>
              <a:t>button</a:t>
            </a:r>
            <a:r>
              <a:t>&gt;</a:t>
            </a:r>
          </a:p>
          <a:p>
            <a:pPr marL="0" indent="0">
              <a:spcBef>
                <a:spcPts val="1200"/>
              </a:spcBef>
              <a:buSzTx/>
              <a:buNone/>
              <a:defRPr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&lt;/</a:t>
            </a:r>
            <a:r>
              <a:rPr>
                <a:solidFill>
                  <a:srgbClr val="A61C00"/>
                </a:solidFill>
              </a:rPr>
              <a:t>form</a:t>
            </a:r>
            <a:r>
              <a:t>&gt;</a:t>
            </a:r>
          </a:p>
        </p:txBody>
      </p:sp>
      <p:sp>
        <p:nvSpPr>
          <p:cNvPr id="124" name="Google Shape;79;p15"/>
          <p:cNvSpPr txBox="1"/>
          <p:nvPr>
            <p:ph type="sldNum" sz="quarter" idx="2"/>
          </p:nvPr>
        </p:nvSpPr>
        <p:spPr>
          <a:xfrm>
            <a:off x="8752992" y="4679691"/>
            <a:ext cx="2681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27" name="Google Shape;80;p15"/>
          <p:cNvGrpSpPr/>
          <p:nvPr/>
        </p:nvGrpSpPr>
        <p:grpSpPr>
          <a:xfrm>
            <a:off x="6043962" y="2083771"/>
            <a:ext cx="3038476" cy="817851"/>
            <a:chOff x="0" y="0"/>
            <a:chExt cx="3038475" cy="817849"/>
          </a:xfrm>
        </p:grpSpPr>
        <p:sp>
          <p:nvSpPr>
            <p:cNvPr id="125" name="Google Shape;81;p15"/>
            <p:cNvSpPr txBox="1"/>
            <p:nvPr/>
          </p:nvSpPr>
          <p:spPr>
            <a:xfrm>
              <a:off x="533475" y="0"/>
              <a:ext cx="2505001" cy="817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/>
            <a:p>
              <a:pPr>
                <a:defRPr sz="1800">
                  <a:solidFill>
                    <a:srgbClr val="D9D9D9"/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📜 First standardized</a:t>
              </a:r>
            </a:p>
            <a:p>
              <a:pPr>
                <a:defRPr sz="1800">
                  <a:solidFill>
                    <a:srgbClr val="D9D9D9"/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pPr>
              <a:r>
                <a:t>in RFC 1867 from 1995</a:t>
              </a:r>
            </a:p>
          </p:txBody>
        </p:sp>
        <p:sp>
          <p:nvSpPr>
            <p:cNvPr id="126" name="Google Shape;82;p15"/>
            <p:cNvSpPr txBox="1"/>
            <p:nvPr/>
          </p:nvSpPr>
          <p:spPr>
            <a:xfrm>
              <a:off x="0" y="38549"/>
              <a:ext cx="476101" cy="7035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3100">
                  <a:solidFill>
                    <a:srgbClr val="000000"/>
                  </a:solidFill>
                  <a:latin typeface="Crimson Text Regular"/>
                  <a:ea typeface="Crimson Text Regular"/>
                  <a:cs typeface="Crimson Text Regular"/>
                  <a:sym typeface="Crimson Text Regular"/>
                </a:defRPr>
              </a:lvl1pPr>
            </a:lstStyle>
            <a:p>
              <a:pPr/>
              <a:r>
                <a:t>👈</a:t>
              </a:r>
            </a:p>
          </p:txBody>
        </p:sp>
      </p:grpSp>
      <p:sp>
        <p:nvSpPr>
          <p:cNvPr id="128" name="Google Shape;83;p15"/>
          <p:cNvSpPr txBox="1"/>
          <p:nvPr/>
        </p:nvSpPr>
        <p:spPr>
          <a:xfrm>
            <a:off x="2351700" y="1394249"/>
            <a:ext cx="4440600" cy="235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>
              <a:lnSpc>
                <a:spcPct val="115000"/>
              </a:lnSpc>
              <a:defRPr sz="1800"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&lt;form method="post" enctype="multipart/form-data"&gt;</a:t>
            </a:r>
          </a:p>
          <a:p>
            <a:pPr indent="457200">
              <a:lnSpc>
                <a:spcPct val="115000"/>
              </a:lnSpc>
              <a:spcBef>
                <a:spcPts val="1200"/>
              </a:spcBef>
              <a:defRPr sz="1800">
                <a:solidFill>
                  <a:srgbClr val="D9D9D9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&lt;</a:t>
            </a:r>
            <a:r>
              <a:rPr>
                <a:solidFill>
                  <a:srgbClr val="A61C00"/>
                </a:solidFill>
              </a:rPr>
              <a:t>input</a:t>
            </a:r>
            <a:r>
              <a:t> </a:t>
            </a:r>
            <a:r>
              <a:rPr>
                <a:solidFill>
                  <a:srgbClr val="6AA84F"/>
                </a:solidFill>
              </a:rPr>
              <a:t>type</a:t>
            </a:r>
            <a:r>
              <a:t>="</a:t>
            </a:r>
            <a:r>
              <a:rPr>
                <a:solidFill>
                  <a:srgbClr val="3C78D8"/>
                </a:solidFill>
              </a:rPr>
              <a:t>file</a:t>
            </a:r>
            <a:r>
              <a:t>" /&gt;</a:t>
            </a:r>
          </a:p>
          <a:p>
            <a:pPr>
              <a:lnSpc>
                <a:spcPct val="115000"/>
              </a:lnSpc>
              <a:spcBef>
                <a:spcPts val="1200"/>
              </a:spcBef>
              <a:defRPr sz="1800"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   &lt;button&gt;Upload&lt;/button&gt;</a:t>
            </a:r>
          </a:p>
          <a:p>
            <a:pPr>
              <a:lnSpc>
                <a:spcPct val="115000"/>
              </a:lnSpc>
              <a:spcBef>
                <a:spcPts val="1200"/>
              </a:spcBef>
              <a:defRPr sz="1800"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&lt;/form&gt;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8" grpId="3"/>
      <p:bldP build="whole" bldLvl="1" animBg="1" rev="0" advAuto="0" spid="127" grpId="1"/>
      <p:bldP build="whole" bldLvl="1" animBg="1" rev="0" advAuto="0" spid="123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88;p16"/>
          <p:cNvSpPr txBox="1"/>
          <p:nvPr>
            <p:ph type="body" sz="half" idx="1"/>
          </p:nvPr>
        </p:nvSpPr>
        <p:spPr>
          <a:xfrm>
            <a:off x="1046625" y="949751"/>
            <a:ext cx="3525300" cy="286890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9600"/>
            </a:pPr>
            <a:r>
              <a:t>📶</a:t>
            </a:r>
          </a:p>
          <a:p>
            <a:pPr marL="0" indent="0" algn="ctr">
              <a:spcBef>
                <a:spcPts val="1200"/>
              </a:spcBef>
              <a:buSzTx/>
              <a:buNone/>
              <a:defRPr sz="2400"/>
            </a:pPr>
            <a:r>
              <a:t>Unreliable networks</a:t>
            </a:r>
          </a:p>
        </p:txBody>
      </p:sp>
      <p:sp>
        <p:nvSpPr>
          <p:cNvPr id="131" name="Google Shape;89;p16"/>
          <p:cNvSpPr txBox="1"/>
          <p:nvPr>
            <p:ph type="sldNum" sz="quarter" idx="2"/>
          </p:nvPr>
        </p:nvSpPr>
        <p:spPr>
          <a:xfrm>
            <a:off x="8752992" y="4679691"/>
            <a:ext cx="2681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2" name="Google Shape;90;p16"/>
          <p:cNvSpPr txBox="1"/>
          <p:nvPr/>
        </p:nvSpPr>
        <p:spPr>
          <a:xfrm>
            <a:off x="4571924" y="949751"/>
            <a:ext cx="3525301" cy="2868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algn="ctr">
              <a:lnSpc>
                <a:spcPct val="115000"/>
              </a:lnSpc>
              <a:defRPr sz="96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📦</a:t>
            </a:r>
          </a:p>
          <a:p>
            <a:pPr algn="ctr">
              <a:lnSpc>
                <a:spcPct val="115000"/>
              </a:lnSpc>
              <a:spcBef>
                <a:spcPts val="1200"/>
              </a:spcBef>
              <a:defRPr sz="24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Large files</a:t>
            </a:r>
          </a:p>
        </p:txBody>
      </p:sp>
      <p:sp>
        <p:nvSpPr>
          <p:cNvPr id="133" name="Google Shape;91;p16"/>
          <p:cNvSpPr txBox="1"/>
          <p:nvPr/>
        </p:nvSpPr>
        <p:spPr>
          <a:xfrm>
            <a:off x="3087979" y="895740"/>
            <a:ext cx="510410" cy="589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/>
            <a:r>
              <a:t>❗</a:t>
            </a:r>
          </a:p>
        </p:txBody>
      </p:sp>
      <p:sp>
        <p:nvSpPr>
          <p:cNvPr id="134" name="Google Shape;92;p16"/>
          <p:cNvSpPr txBox="1"/>
          <p:nvPr/>
        </p:nvSpPr>
        <p:spPr>
          <a:xfrm>
            <a:off x="6417945" y="916128"/>
            <a:ext cx="510410" cy="589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/>
            <a:r>
              <a:t>⬆️</a:t>
            </a:r>
          </a:p>
        </p:txBody>
      </p:sp>
      <p:sp>
        <p:nvSpPr>
          <p:cNvPr id="135" name="Google Shape;93;p16"/>
          <p:cNvSpPr txBox="1"/>
          <p:nvPr/>
        </p:nvSpPr>
        <p:spPr>
          <a:xfrm>
            <a:off x="1644300" y="4054449"/>
            <a:ext cx="5855400" cy="55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20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lvl1pPr>
          </a:lstStyle>
          <a:p>
            <a:pPr/>
            <a:r>
              <a:t>👉 Any interruption causes the upload to fail 😥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2" grpId="1"/>
      <p:bldP build="whole" bldLvl="1" animBg="1" rev="0" advAuto="0" spid="135" grpId="3"/>
      <p:bldP build="whole" bldLvl="1" animBg="1" rev="0" advAuto="0" spid="134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98;p17"/>
          <p:cNvSpPr/>
          <p:nvPr/>
        </p:nvSpPr>
        <p:spPr>
          <a:xfrm flipH="1" flipV="1">
            <a:off x="4521100" y="1598075"/>
            <a:ext cx="4801" cy="2074500"/>
          </a:xfrm>
          <a:prstGeom prst="line">
            <a:avLst/>
          </a:prstGeom>
          <a:ln w="19050">
            <a:solidFill>
              <a:srgbClr val="D9D9D9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8" name="Google Shape;99;p17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Resumable uploads to the rescue!</a:t>
            </a:r>
          </a:p>
        </p:txBody>
      </p:sp>
      <p:sp>
        <p:nvSpPr>
          <p:cNvPr id="139" name="Google Shape;100;p17"/>
          <p:cNvSpPr txBox="1"/>
          <p:nvPr>
            <p:ph type="body" sz="quarter" idx="1"/>
          </p:nvPr>
        </p:nvSpPr>
        <p:spPr>
          <a:xfrm>
            <a:off x="1906199" y="1157199"/>
            <a:ext cx="5331601" cy="1105802"/>
          </a:xfrm>
          <a:prstGeom prst="rect">
            <a:avLst/>
          </a:prstGeom>
          <a:effectLst>
            <a:outerShdw sx="100000" sy="100000" kx="0" ky="0" algn="b" rotWithShape="0" blurRad="177800" dist="0" dir="0">
              <a:schemeClr val="accent4">
                <a:lumOff val="35263"/>
                <a:alpha val="50000"/>
              </a:schemeClr>
            </a:outerShdw>
          </a:effectLst>
        </p:spPr>
        <p:txBody>
          <a:bodyPr/>
          <a:lstStyle>
            <a:lvl1pPr marL="0" indent="0" algn="ctr">
              <a:spcBef>
                <a:spcPts val="1200"/>
              </a:spcBef>
              <a:buSzTx/>
              <a:buNone/>
              <a:defRPr sz="4600"/>
            </a:lvl1pPr>
          </a:lstStyle>
          <a:p>
            <a:pPr/>
            <a:r>
              <a:t>📱                🗄️ </a:t>
            </a:r>
          </a:p>
        </p:txBody>
      </p:sp>
      <p:sp>
        <p:nvSpPr>
          <p:cNvPr id="140" name="Google Shape;101;p17"/>
          <p:cNvSpPr txBox="1"/>
          <p:nvPr>
            <p:ph type="sldNum" sz="quarter" idx="2"/>
          </p:nvPr>
        </p:nvSpPr>
        <p:spPr>
          <a:xfrm>
            <a:off x="8752992" y="4679691"/>
            <a:ext cx="2681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41" name="Google Shape;102;p17"/>
          <p:cNvSpPr/>
          <p:nvPr/>
        </p:nvSpPr>
        <p:spPr>
          <a:xfrm>
            <a:off x="3507578" y="1588769"/>
            <a:ext cx="2093101" cy="4801"/>
          </a:xfrm>
          <a:prstGeom prst="line">
            <a:avLst/>
          </a:prstGeom>
          <a:ln w="38100">
            <a:solidFill>
              <a:srgbClr val="D9D9D9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2" name="Google Shape;103;p17"/>
          <p:cNvSpPr txBox="1"/>
          <p:nvPr/>
        </p:nvSpPr>
        <p:spPr>
          <a:xfrm>
            <a:off x="3333146" y="1140894"/>
            <a:ext cx="579901" cy="55115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03200" dist="0" dir="0">
              <a:srgbClr val="FFFFFF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</a:lstStyle>
          <a:p>
            <a:pPr/>
            <a:r>
              <a:t>🎞️</a:t>
            </a:r>
          </a:p>
        </p:txBody>
      </p:sp>
      <p:sp>
        <p:nvSpPr>
          <p:cNvPr id="143" name="Google Shape;104;p17"/>
          <p:cNvSpPr txBox="1"/>
          <p:nvPr/>
        </p:nvSpPr>
        <p:spPr>
          <a:xfrm>
            <a:off x="4267906" y="1306474"/>
            <a:ext cx="579901" cy="60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500">
                <a:solidFill>
                  <a:srgbClr val="000000"/>
                </a:solidFill>
              </a:defRPr>
            </a:lvl1pPr>
          </a:lstStyle>
          <a:p>
            <a:pPr/>
            <a:r>
              <a:t>❌</a:t>
            </a:r>
          </a:p>
        </p:txBody>
      </p:sp>
      <p:sp>
        <p:nvSpPr>
          <p:cNvPr id="144" name="Google Shape;105;p17"/>
          <p:cNvSpPr txBox="1"/>
          <p:nvPr/>
        </p:nvSpPr>
        <p:spPr>
          <a:xfrm>
            <a:off x="1888324" y="2180924"/>
            <a:ext cx="5331602" cy="91680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77800" dist="0" dir="0">
              <a:schemeClr val="accent4">
                <a:lumOff val="35263"/>
                <a:alpha val="50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algn="ctr" defTabSz="822959">
              <a:lnSpc>
                <a:spcPct val="115000"/>
              </a:lnSpc>
              <a:spcBef>
                <a:spcPts val="1000"/>
              </a:spcBef>
              <a:defRPr sz="414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lvl1pPr>
          </a:lstStyle>
          <a:p>
            <a:pPr/>
            <a:r>
              <a:t>📱                  🗄️ </a:t>
            </a:r>
          </a:p>
        </p:txBody>
      </p:sp>
      <p:sp>
        <p:nvSpPr>
          <p:cNvPr id="145" name="Google Shape;106;p17"/>
          <p:cNvSpPr txBox="1"/>
          <p:nvPr/>
        </p:nvSpPr>
        <p:spPr>
          <a:xfrm>
            <a:off x="1870449" y="3204649"/>
            <a:ext cx="5331602" cy="11058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77800" dist="0" dir="0">
              <a:schemeClr val="accent4">
                <a:lumOff val="35263"/>
                <a:alpha val="50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algn="ctr">
              <a:lnSpc>
                <a:spcPct val="115000"/>
              </a:lnSpc>
              <a:spcBef>
                <a:spcPts val="1200"/>
              </a:spcBef>
              <a:defRPr sz="46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lvl1pPr>
          </a:lstStyle>
          <a:p>
            <a:pPr/>
            <a:r>
              <a:t>📱                🗄️ </a:t>
            </a:r>
          </a:p>
        </p:txBody>
      </p:sp>
      <p:sp>
        <p:nvSpPr>
          <p:cNvPr id="146" name="Google Shape;107;p17"/>
          <p:cNvSpPr/>
          <p:nvPr/>
        </p:nvSpPr>
        <p:spPr>
          <a:xfrm flipV="1">
            <a:off x="4521200" y="3640825"/>
            <a:ext cx="1043700" cy="12901"/>
          </a:xfrm>
          <a:prstGeom prst="line">
            <a:avLst/>
          </a:prstGeom>
          <a:ln w="38100">
            <a:solidFill>
              <a:srgbClr val="D9D9D9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7" name="Google Shape;108;p17"/>
          <p:cNvSpPr txBox="1"/>
          <p:nvPr/>
        </p:nvSpPr>
        <p:spPr>
          <a:xfrm>
            <a:off x="4571996" y="3179969"/>
            <a:ext cx="579901" cy="55115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03200" dist="0" dir="0">
              <a:srgbClr val="FFFFFF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</a:lstStyle>
          <a:p>
            <a:pPr/>
            <a:r>
              <a:t>🎞️</a:t>
            </a:r>
          </a:p>
        </p:txBody>
      </p:sp>
      <p:sp>
        <p:nvSpPr>
          <p:cNvPr id="148" name="Google Shape;109;p17"/>
          <p:cNvSpPr txBox="1"/>
          <p:nvPr/>
        </p:nvSpPr>
        <p:spPr>
          <a:xfrm>
            <a:off x="6402275" y="3354775"/>
            <a:ext cx="579901" cy="614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600">
                <a:solidFill>
                  <a:srgbClr val="000000"/>
                </a:solidFill>
              </a:defRPr>
            </a:lvl1pPr>
          </a:lstStyle>
          <a:p>
            <a:pPr/>
            <a:r>
              <a:t>✅</a:t>
            </a:r>
          </a:p>
        </p:txBody>
      </p:sp>
      <p:grpSp>
        <p:nvGrpSpPr>
          <p:cNvPr id="151" name="Google Shape;110;p17"/>
          <p:cNvGrpSpPr/>
          <p:nvPr/>
        </p:nvGrpSpPr>
        <p:grpSpPr>
          <a:xfrm>
            <a:off x="3333150" y="2016724"/>
            <a:ext cx="773101" cy="800651"/>
            <a:chOff x="0" y="0"/>
            <a:chExt cx="773100" cy="800649"/>
          </a:xfrm>
        </p:grpSpPr>
        <p:sp>
          <p:nvSpPr>
            <p:cNvPr id="149" name="Google Shape;111;p17"/>
            <p:cNvSpPr txBox="1"/>
            <p:nvPr/>
          </p:nvSpPr>
          <p:spPr>
            <a:xfrm>
              <a:off x="259199" y="0"/>
              <a:ext cx="513902" cy="627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2700">
                  <a:solidFill>
                    <a:schemeClr val="accent3"/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pPr/>
              <a:r>
                <a:t>❔</a:t>
              </a:r>
            </a:p>
          </p:txBody>
        </p:sp>
        <p:sp>
          <p:nvSpPr>
            <p:cNvPr id="150" name="Google Shape;112;p17"/>
            <p:cNvSpPr txBox="1"/>
            <p:nvPr/>
          </p:nvSpPr>
          <p:spPr>
            <a:xfrm>
              <a:off x="0" y="147899"/>
              <a:ext cx="711901" cy="652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2800">
                  <a:solidFill>
                    <a:srgbClr val="000000"/>
                  </a:solidFill>
                </a:defRPr>
              </a:lvl1pPr>
            </a:lstStyle>
            <a:p>
              <a:pPr/>
              <a:r>
                <a:t>💬</a:t>
              </a:r>
            </a:p>
          </p:txBody>
        </p:sp>
      </p:grpSp>
      <p:grpSp>
        <p:nvGrpSpPr>
          <p:cNvPr id="154" name="Google Shape;113;p17"/>
          <p:cNvGrpSpPr/>
          <p:nvPr/>
        </p:nvGrpSpPr>
        <p:grpSpPr>
          <a:xfrm>
            <a:off x="4940749" y="2016724"/>
            <a:ext cx="987289" cy="944851"/>
            <a:chOff x="0" y="0"/>
            <a:chExt cx="987288" cy="944849"/>
          </a:xfrm>
        </p:grpSpPr>
        <p:sp>
          <p:nvSpPr>
            <p:cNvPr id="152" name="Google Shape;114;p17"/>
            <p:cNvSpPr txBox="1"/>
            <p:nvPr/>
          </p:nvSpPr>
          <p:spPr>
            <a:xfrm>
              <a:off x="0" y="0"/>
              <a:ext cx="810901" cy="944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4600">
                  <a:solidFill>
                    <a:schemeClr val="accent3"/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pPr/>
              <a:r>
                <a:t>🗨️</a:t>
              </a:r>
            </a:p>
          </p:txBody>
        </p:sp>
        <p:sp>
          <p:nvSpPr>
            <p:cNvPr id="153" name="Google Shape;115;p17"/>
            <p:cNvSpPr txBox="1"/>
            <p:nvPr/>
          </p:nvSpPr>
          <p:spPr>
            <a:xfrm>
              <a:off x="138587" y="194599"/>
              <a:ext cx="848702" cy="3860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3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pPr/>
              <a:r>
                <a:t>50%</a:t>
              </a:r>
            </a:p>
          </p:txBody>
        </p:sp>
      </p:grpSp>
      <p:grpSp>
        <p:nvGrpSpPr>
          <p:cNvPr id="157" name="Google Shape;116;p17"/>
          <p:cNvGrpSpPr/>
          <p:nvPr/>
        </p:nvGrpSpPr>
        <p:grpSpPr>
          <a:xfrm>
            <a:off x="6430524" y="858050"/>
            <a:ext cx="977944" cy="982951"/>
            <a:chOff x="0" y="0"/>
            <a:chExt cx="977943" cy="982949"/>
          </a:xfrm>
        </p:grpSpPr>
        <p:sp>
          <p:nvSpPr>
            <p:cNvPr id="155" name="Google Shape;117;p17"/>
            <p:cNvSpPr txBox="1"/>
            <p:nvPr/>
          </p:nvSpPr>
          <p:spPr>
            <a:xfrm>
              <a:off x="0" y="0"/>
              <a:ext cx="848701" cy="9829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4800">
                  <a:solidFill>
                    <a:srgbClr val="000000"/>
                  </a:solidFill>
                </a:defRPr>
              </a:lvl1pPr>
            </a:lstStyle>
            <a:p>
              <a:pPr/>
              <a:r>
                <a:t>💭</a:t>
              </a:r>
            </a:p>
          </p:txBody>
        </p:sp>
        <p:sp>
          <p:nvSpPr>
            <p:cNvPr id="156" name="Google Shape;118;p17"/>
            <p:cNvSpPr txBox="1"/>
            <p:nvPr/>
          </p:nvSpPr>
          <p:spPr>
            <a:xfrm>
              <a:off x="129243" y="207736"/>
              <a:ext cx="848701" cy="411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1500"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pPr/>
              <a:r>
                <a:t>50%</a:t>
              </a:r>
            </a:p>
          </p:txBody>
        </p:sp>
      </p:grpSp>
      <p:sp>
        <p:nvSpPr>
          <p:cNvPr id="158" name="Google Shape;119;p17"/>
          <p:cNvSpPr txBox="1"/>
          <p:nvPr/>
        </p:nvSpPr>
        <p:spPr>
          <a:xfrm>
            <a:off x="1644300" y="4162747"/>
            <a:ext cx="5855400" cy="551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20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lvl1pPr>
          </a:lstStyle>
          <a:p>
            <a:pPr/>
            <a:r>
              <a:t>👉 No more re-uploads 🙌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3" grpId="1"/>
      <p:bldP build="whole" bldLvl="1" animBg="1" rev="0" advAuto="0" spid="146" grpId="7"/>
      <p:bldP build="whole" bldLvl="1" animBg="1" rev="0" advAuto="0" spid="157" grpId="2"/>
      <p:bldP build="whole" bldLvl="1" animBg="1" rev="0" advAuto="0" spid="137" grpId="9"/>
      <p:bldP build="whole" bldLvl="1" animBg="1" rev="0" advAuto="0" spid="158" grpId="11"/>
      <p:bldP build="whole" bldLvl="1" animBg="1" rev="0" advAuto="0" spid="144" grpId="3"/>
      <p:bldP build="whole" bldLvl="1" animBg="1" rev="0" advAuto="0" spid="151" grpId="4"/>
      <p:bldP build="whole" bldLvl="1" animBg="1" rev="0" advAuto="0" spid="145" grpId="6"/>
      <p:bldP build="whole" bldLvl="1" animBg="1" rev="0" advAuto="0" spid="154" grpId="5"/>
      <p:bldP build="whole" bldLvl="1" animBg="1" rev="0" advAuto="0" spid="147" grpId="8"/>
      <p:bldP build="whole" bldLvl="1" animBg="1" rev="0" advAuto="0" spid="148" grpId="1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24;p18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User experience benefits</a:t>
            </a:r>
          </a:p>
        </p:txBody>
      </p:sp>
      <p:sp>
        <p:nvSpPr>
          <p:cNvPr id="161" name="Google Shape;125;p18"/>
          <p:cNvSpPr txBox="1"/>
          <p:nvPr>
            <p:ph type="body" idx="1"/>
          </p:nvPr>
        </p:nvSpPr>
        <p:spPr>
          <a:xfrm>
            <a:off x="1163399" y="1321982"/>
            <a:ext cx="6817202" cy="3416401"/>
          </a:xfrm>
          <a:prstGeom prst="rect">
            <a:avLst/>
          </a:prstGeom>
        </p:spPr>
        <p:txBody>
          <a:bodyPr/>
          <a:lstStyle/>
          <a:p>
            <a:pPr marL="0" indent="0" defTabSz="905255">
              <a:buSzTx/>
              <a:buNone/>
              <a:defRPr sz="1782"/>
            </a:pPr>
            <a:r>
              <a:t>1️⃣  Recover uploads from transient failures:</a:t>
            </a:r>
            <a:br/>
            <a:r>
              <a:t>      </a:t>
            </a:r>
            <a:r>
              <a:rPr sz="1485">
                <a:solidFill>
                  <a:srgbClr val="B7B7B7"/>
                </a:solidFill>
              </a:rPr>
              <a:t>connection drop, server crash, device shuts down etc.</a:t>
            </a:r>
            <a:endParaRPr sz="1485">
              <a:solidFill>
                <a:srgbClr val="B7B7B7"/>
              </a:solidFill>
            </a:endParaRPr>
          </a:p>
          <a:p>
            <a:pPr marL="0" indent="0" defTabSz="905255">
              <a:spcBef>
                <a:spcPts val="900"/>
              </a:spcBef>
              <a:buSzTx/>
              <a:buNone/>
              <a:defRPr sz="1782"/>
            </a:pPr>
            <a:r>
              <a:t>2️⃣  Pause and resume uploads based on user intent</a:t>
            </a:r>
          </a:p>
          <a:p>
            <a:pPr marL="0" indent="0" defTabSz="905255">
              <a:spcBef>
                <a:spcPts val="1100"/>
              </a:spcBef>
              <a:buSzTx/>
              <a:buNone/>
              <a:defRPr sz="1782"/>
            </a:pPr>
            <a:r>
              <a:t>3️⃣  Prioritize real-time traffic over low-priority uploads</a:t>
            </a:r>
            <a:br/>
            <a:r>
              <a:t>      </a:t>
            </a:r>
            <a:r>
              <a:rPr sz="1485">
                <a:solidFill>
                  <a:srgbClr val="B7B7B7"/>
                </a:solidFill>
              </a:rPr>
              <a:t>e.g. for video calls</a:t>
            </a:r>
            <a:endParaRPr sz="1485">
              <a:solidFill>
                <a:srgbClr val="B7B7B7"/>
              </a:solidFill>
            </a:endParaRPr>
          </a:p>
          <a:p>
            <a:pPr marL="0" indent="0" defTabSz="905255">
              <a:spcBef>
                <a:spcPts val="1100"/>
              </a:spcBef>
              <a:buSzTx/>
              <a:buNone/>
              <a:defRPr sz="1782"/>
            </a:pPr>
            <a:r>
              <a:t>4️⃣  Automatically pause uploads based on network conditions:</a:t>
            </a:r>
            <a:br/>
            <a:r>
              <a:t>      </a:t>
            </a:r>
            <a:r>
              <a:rPr sz="1485">
                <a:solidFill>
                  <a:srgbClr val="B7B7B7"/>
                </a:solidFill>
              </a:rPr>
              <a:t>e.g. when switching from WiFi to metered network</a:t>
            </a:r>
          </a:p>
        </p:txBody>
      </p:sp>
      <p:sp>
        <p:nvSpPr>
          <p:cNvPr id="162" name="Google Shape;126;p18"/>
          <p:cNvSpPr txBox="1"/>
          <p:nvPr>
            <p:ph type="sldNum" sz="quarter" idx="2"/>
          </p:nvPr>
        </p:nvSpPr>
        <p:spPr>
          <a:xfrm>
            <a:off x="8752992" y="4679691"/>
            <a:ext cx="2681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16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31;p19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Early days of resumable uploads…</a:t>
            </a:r>
          </a:p>
        </p:txBody>
      </p:sp>
      <p:sp>
        <p:nvSpPr>
          <p:cNvPr id="165" name="Google Shape;132;p19"/>
          <p:cNvSpPr txBox="1"/>
          <p:nvPr>
            <p:ph type="body" sz="quarter" idx="1"/>
          </p:nvPr>
        </p:nvSpPr>
        <p:spPr>
          <a:xfrm>
            <a:off x="1240204" y="3025574"/>
            <a:ext cx="2754002" cy="106470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200"/>
              </a:spcBef>
              <a:buSzTx/>
              <a:buNone/>
              <a:defRPr sz="2000"/>
            </a:lvl1pPr>
          </a:lstStyle>
          <a:p>
            <a:pPr/>
            <a:r>
              <a:t>Implement your own proprietary solution</a:t>
            </a:r>
          </a:p>
        </p:txBody>
      </p:sp>
      <p:sp>
        <p:nvSpPr>
          <p:cNvPr id="166" name="Google Shape;133;p19"/>
          <p:cNvSpPr txBox="1"/>
          <p:nvPr>
            <p:ph type="sldNum" sz="quarter" idx="2"/>
          </p:nvPr>
        </p:nvSpPr>
        <p:spPr>
          <a:xfrm>
            <a:off x="8752992" y="4679691"/>
            <a:ext cx="2681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67" name="Google Shape;134;p19"/>
          <p:cNvSpPr txBox="1"/>
          <p:nvPr/>
        </p:nvSpPr>
        <p:spPr>
          <a:xfrm>
            <a:off x="3435449" y="1448750"/>
            <a:ext cx="2273101" cy="208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 algn="ctr">
              <a:defRPr sz="11400">
                <a:solidFill>
                  <a:srgbClr val="000000"/>
                </a:solidFill>
              </a:defRPr>
            </a:lvl1pPr>
          </a:lstStyle>
          <a:p>
            <a:pPr/>
            <a:r>
              <a:t>⚖️</a:t>
            </a:r>
          </a:p>
        </p:txBody>
      </p:sp>
      <p:sp>
        <p:nvSpPr>
          <p:cNvPr id="168" name="Google Shape;135;p19"/>
          <p:cNvSpPr txBox="1"/>
          <p:nvPr/>
        </p:nvSpPr>
        <p:spPr>
          <a:xfrm>
            <a:off x="5146708" y="3025575"/>
            <a:ext cx="3553800" cy="920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defRPr sz="20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Use a platform-/stack-</a:t>
            </a:r>
            <a:br/>
            <a:r>
              <a:t>specific OSS project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40;p20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In 2013 we started tus.io to create…</a:t>
            </a:r>
          </a:p>
        </p:txBody>
      </p:sp>
      <p:sp>
        <p:nvSpPr>
          <p:cNvPr id="171" name="Google Shape;141;p20"/>
          <p:cNvSpPr txBox="1"/>
          <p:nvPr>
            <p:ph type="sldNum" sz="quarter" idx="2"/>
          </p:nvPr>
        </p:nvSpPr>
        <p:spPr>
          <a:xfrm>
            <a:off x="8752992" y="4679691"/>
            <a:ext cx="2681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72" name="Google Shape;142;p20"/>
          <p:cNvSpPr txBox="1"/>
          <p:nvPr>
            <p:ph type="body" sz="half" idx="1"/>
          </p:nvPr>
        </p:nvSpPr>
        <p:spPr>
          <a:xfrm>
            <a:off x="1046625" y="1309940"/>
            <a:ext cx="3525300" cy="286890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9600"/>
            </a:pPr>
            <a:r>
              <a:t>📜</a:t>
            </a:r>
          </a:p>
          <a:p>
            <a:pPr marL="0" indent="0" algn="ctr">
              <a:spcBef>
                <a:spcPts val="1200"/>
              </a:spcBef>
              <a:buSzTx/>
              <a:buNone/>
            </a:pPr>
            <a:r>
              <a:t>Open, HTTP-based protocol for</a:t>
            </a:r>
            <a:br/>
            <a:r>
              <a:t>resumable uploads</a:t>
            </a:r>
          </a:p>
        </p:txBody>
      </p:sp>
      <p:sp>
        <p:nvSpPr>
          <p:cNvPr id="173" name="Google Shape;143;p20"/>
          <p:cNvSpPr txBox="1"/>
          <p:nvPr/>
        </p:nvSpPr>
        <p:spPr>
          <a:xfrm>
            <a:off x="4571924" y="1309940"/>
            <a:ext cx="3525301" cy="2868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algn="ctr">
              <a:lnSpc>
                <a:spcPct val="115000"/>
              </a:lnSpc>
              <a:defRPr sz="96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🛠️</a:t>
            </a:r>
          </a:p>
          <a:p>
            <a:pPr algn="ctr">
              <a:lnSpc>
                <a:spcPct val="115000"/>
              </a:lnSpc>
              <a:spcBef>
                <a:spcPts val="1200"/>
              </a:spcBef>
              <a:defRPr sz="18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Open source libraries that are easy to integrate everywhere</a:t>
            </a:r>
          </a:p>
        </p:txBody>
      </p:sp>
      <p:pic>
        <p:nvPicPr>
          <p:cNvPr id="174" name="Google Shape;144;p20" descr="Google Shape;144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04175" y="332401"/>
            <a:ext cx="685551" cy="11467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49;p21"/>
          <p:cNvSpPr txBox="1"/>
          <p:nvPr>
            <p:ph type="body" sz="half" idx="1"/>
          </p:nvPr>
        </p:nvSpPr>
        <p:spPr>
          <a:xfrm>
            <a:off x="1787100" y="704774"/>
            <a:ext cx="5569801" cy="181140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2000"/>
            </a:pPr>
            <a:r>
              <a:t>📖</a:t>
            </a:r>
            <a:r>
              <a:rPr sz="1800"/>
              <a:t>  Tus is an open protocol</a:t>
            </a:r>
            <a:endParaRPr sz="1800"/>
          </a:p>
          <a:p>
            <a:pPr marL="0" indent="0">
              <a:spcBef>
                <a:spcPts val="1200"/>
              </a:spcBef>
              <a:buSzTx/>
              <a:buNone/>
              <a:defRPr sz="2000"/>
            </a:pPr>
            <a:r>
              <a:t>👉  </a:t>
            </a:r>
            <a:r>
              <a:rPr sz="1800"/>
              <a:t>Public APIs can use tus for resumable uploads</a:t>
            </a:r>
          </a:p>
        </p:txBody>
      </p:sp>
      <p:sp>
        <p:nvSpPr>
          <p:cNvPr id="177" name="Google Shape;150;p21"/>
          <p:cNvSpPr txBox="1"/>
          <p:nvPr>
            <p:ph type="sldNum" sz="quarter" idx="2"/>
          </p:nvPr>
        </p:nvSpPr>
        <p:spPr>
          <a:xfrm>
            <a:off x="8752992" y="4679691"/>
            <a:ext cx="268167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78" name="frame_generic_light 2.pngGoogle Shape;151;p21" descr="frame_generic_light 2.pngGoogle Shape;151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28449" y="1907570"/>
            <a:ext cx="5687102" cy="28214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56;p22"/>
          <p:cNvSpPr/>
          <p:nvPr/>
        </p:nvSpPr>
        <p:spPr>
          <a:xfrm flipH="1" flipV="1">
            <a:off x="4296981" y="1798180"/>
            <a:ext cx="4801" cy="2074500"/>
          </a:xfrm>
          <a:prstGeom prst="line">
            <a:avLst/>
          </a:prstGeom>
          <a:ln w="19050">
            <a:solidFill>
              <a:srgbClr val="D9D9D9"/>
            </a:solidFill>
            <a:prstDash val="dash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3" name="Google Shape;157;p22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Resumable uploads under the hood</a:t>
            </a:r>
          </a:p>
        </p:txBody>
      </p:sp>
      <p:sp>
        <p:nvSpPr>
          <p:cNvPr id="184" name="Google Shape;158;p22"/>
          <p:cNvSpPr txBox="1"/>
          <p:nvPr>
            <p:ph type="body" sz="quarter" idx="1"/>
          </p:nvPr>
        </p:nvSpPr>
        <p:spPr>
          <a:xfrm>
            <a:off x="1682081" y="1357305"/>
            <a:ext cx="5331602" cy="1105801"/>
          </a:xfrm>
          <a:prstGeom prst="rect">
            <a:avLst/>
          </a:prstGeom>
          <a:effectLst>
            <a:outerShdw sx="100000" sy="100000" kx="0" ky="0" algn="b" rotWithShape="0" blurRad="177800" dist="0" dir="0">
              <a:schemeClr val="accent4">
                <a:lumOff val="35263"/>
                <a:alpha val="50000"/>
              </a:schemeClr>
            </a:outerShdw>
          </a:effectLst>
        </p:spPr>
        <p:txBody>
          <a:bodyPr/>
          <a:lstStyle>
            <a:lvl1pPr marL="0" indent="0" algn="ctr">
              <a:spcBef>
                <a:spcPts val="1200"/>
              </a:spcBef>
              <a:buSzTx/>
              <a:buNone/>
              <a:defRPr sz="4600"/>
            </a:lvl1pPr>
          </a:lstStyle>
          <a:p>
            <a:pPr/>
            <a:r>
              <a:t>📱                🗄️ </a:t>
            </a:r>
          </a:p>
        </p:txBody>
      </p:sp>
      <p:sp>
        <p:nvSpPr>
          <p:cNvPr id="185" name="Google Shape;159;p22"/>
          <p:cNvSpPr txBox="1"/>
          <p:nvPr>
            <p:ph type="sldNum" sz="quarter" idx="2"/>
          </p:nvPr>
        </p:nvSpPr>
        <p:spPr>
          <a:xfrm>
            <a:off x="8680376" y="4679691"/>
            <a:ext cx="340783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6" name="Google Shape;160;p22"/>
          <p:cNvSpPr/>
          <p:nvPr/>
        </p:nvSpPr>
        <p:spPr>
          <a:xfrm>
            <a:off x="3283460" y="1788874"/>
            <a:ext cx="2093101" cy="4801"/>
          </a:xfrm>
          <a:prstGeom prst="line">
            <a:avLst/>
          </a:prstGeom>
          <a:ln w="38100">
            <a:solidFill>
              <a:srgbClr val="D9D9D9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7" name="Google Shape;161;p22"/>
          <p:cNvSpPr txBox="1"/>
          <p:nvPr/>
        </p:nvSpPr>
        <p:spPr>
          <a:xfrm>
            <a:off x="3109028" y="1340998"/>
            <a:ext cx="579901" cy="55115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03200" dist="0" dir="0">
              <a:srgbClr val="FFFFFF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</a:lstStyle>
          <a:p>
            <a:pPr/>
            <a:r>
              <a:t>🎞️</a:t>
            </a:r>
          </a:p>
        </p:txBody>
      </p:sp>
      <p:sp>
        <p:nvSpPr>
          <p:cNvPr id="188" name="Google Shape;162;p22"/>
          <p:cNvSpPr txBox="1"/>
          <p:nvPr/>
        </p:nvSpPr>
        <p:spPr>
          <a:xfrm>
            <a:off x="4043788" y="1506580"/>
            <a:ext cx="579901" cy="60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500">
                <a:solidFill>
                  <a:srgbClr val="000000"/>
                </a:solidFill>
              </a:defRPr>
            </a:lvl1pPr>
          </a:lstStyle>
          <a:p>
            <a:pPr/>
            <a:r>
              <a:t>❌</a:t>
            </a:r>
          </a:p>
        </p:txBody>
      </p:sp>
      <p:sp>
        <p:nvSpPr>
          <p:cNvPr id="189" name="Google Shape;163;p22"/>
          <p:cNvSpPr txBox="1"/>
          <p:nvPr/>
        </p:nvSpPr>
        <p:spPr>
          <a:xfrm>
            <a:off x="1651506" y="2381030"/>
            <a:ext cx="5331602" cy="9168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77800" dist="0" dir="0">
              <a:schemeClr val="accent4">
                <a:lumOff val="35263"/>
                <a:alpha val="50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algn="ctr" defTabSz="822959">
              <a:lnSpc>
                <a:spcPct val="115000"/>
              </a:lnSpc>
              <a:spcBef>
                <a:spcPts val="1000"/>
              </a:spcBef>
              <a:defRPr sz="414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lvl1pPr>
          </a:lstStyle>
          <a:p>
            <a:pPr/>
            <a:r>
              <a:t>📱                  🗄️ </a:t>
            </a:r>
          </a:p>
        </p:txBody>
      </p:sp>
      <p:sp>
        <p:nvSpPr>
          <p:cNvPr id="190" name="Google Shape;164;p22"/>
          <p:cNvSpPr txBox="1"/>
          <p:nvPr/>
        </p:nvSpPr>
        <p:spPr>
          <a:xfrm>
            <a:off x="1646331" y="3404754"/>
            <a:ext cx="5331602" cy="11058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77800" dist="0" dir="0">
              <a:schemeClr val="accent4">
                <a:lumOff val="35263"/>
                <a:alpha val="50000"/>
              </a:scheme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algn="ctr">
              <a:lnSpc>
                <a:spcPct val="115000"/>
              </a:lnSpc>
              <a:spcBef>
                <a:spcPts val="1200"/>
              </a:spcBef>
              <a:defRPr sz="46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lvl1pPr>
          </a:lstStyle>
          <a:p>
            <a:pPr/>
            <a:r>
              <a:t>📱                🗄️ </a:t>
            </a:r>
          </a:p>
        </p:txBody>
      </p:sp>
      <p:sp>
        <p:nvSpPr>
          <p:cNvPr id="191" name="Google Shape;165;p22"/>
          <p:cNvSpPr/>
          <p:nvPr/>
        </p:nvSpPr>
        <p:spPr>
          <a:xfrm flipV="1">
            <a:off x="4297081" y="3840929"/>
            <a:ext cx="1043700" cy="12901"/>
          </a:xfrm>
          <a:prstGeom prst="line">
            <a:avLst/>
          </a:prstGeom>
          <a:ln w="38100">
            <a:solidFill>
              <a:srgbClr val="D9D9D9"/>
            </a:solidFill>
            <a:tailEnd type="triangle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92" name="Google Shape;166;p22"/>
          <p:cNvSpPr txBox="1"/>
          <p:nvPr/>
        </p:nvSpPr>
        <p:spPr>
          <a:xfrm>
            <a:off x="4347878" y="3380073"/>
            <a:ext cx="579901" cy="55115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03200" dist="0" dir="0">
              <a:srgbClr val="FFFFFF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>
                <a:solidFill>
                  <a:srgbClr val="000000"/>
                </a:solidFill>
              </a:defRPr>
            </a:lvl1pPr>
          </a:lstStyle>
          <a:p>
            <a:pPr/>
            <a:r>
              <a:t>🎞️</a:t>
            </a:r>
          </a:p>
        </p:txBody>
      </p:sp>
      <p:sp>
        <p:nvSpPr>
          <p:cNvPr id="193" name="Google Shape;167;p22"/>
          <p:cNvSpPr txBox="1"/>
          <p:nvPr/>
        </p:nvSpPr>
        <p:spPr>
          <a:xfrm>
            <a:off x="6178156" y="3554879"/>
            <a:ext cx="579902" cy="614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600">
                <a:solidFill>
                  <a:srgbClr val="000000"/>
                </a:solidFill>
              </a:defRPr>
            </a:lvl1pPr>
          </a:lstStyle>
          <a:p>
            <a:pPr/>
            <a:r>
              <a:t>✅</a:t>
            </a:r>
          </a:p>
        </p:txBody>
      </p:sp>
      <p:grpSp>
        <p:nvGrpSpPr>
          <p:cNvPr id="196" name="Google Shape;168;p22"/>
          <p:cNvGrpSpPr/>
          <p:nvPr/>
        </p:nvGrpSpPr>
        <p:grpSpPr>
          <a:xfrm>
            <a:off x="3109031" y="2216829"/>
            <a:ext cx="773101" cy="800651"/>
            <a:chOff x="0" y="0"/>
            <a:chExt cx="773100" cy="800649"/>
          </a:xfrm>
        </p:grpSpPr>
        <p:sp>
          <p:nvSpPr>
            <p:cNvPr id="194" name="Google Shape;169;p22"/>
            <p:cNvSpPr txBox="1"/>
            <p:nvPr/>
          </p:nvSpPr>
          <p:spPr>
            <a:xfrm>
              <a:off x="259199" y="0"/>
              <a:ext cx="513902" cy="627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2700">
                  <a:solidFill>
                    <a:schemeClr val="accent3"/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pPr/>
              <a:r>
                <a:t>❔</a:t>
              </a:r>
            </a:p>
          </p:txBody>
        </p:sp>
        <p:sp>
          <p:nvSpPr>
            <p:cNvPr id="195" name="Google Shape;170;p22"/>
            <p:cNvSpPr txBox="1"/>
            <p:nvPr/>
          </p:nvSpPr>
          <p:spPr>
            <a:xfrm>
              <a:off x="0" y="147899"/>
              <a:ext cx="711901" cy="652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2800">
                  <a:solidFill>
                    <a:srgbClr val="000000"/>
                  </a:solidFill>
                </a:defRPr>
              </a:lvl1pPr>
            </a:lstStyle>
            <a:p>
              <a:pPr/>
              <a:r>
                <a:t>💬</a:t>
              </a:r>
            </a:p>
          </p:txBody>
        </p:sp>
      </p:grpSp>
      <p:grpSp>
        <p:nvGrpSpPr>
          <p:cNvPr id="199" name="Google Shape;171;p22"/>
          <p:cNvGrpSpPr/>
          <p:nvPr/>
        </p:nvGrpSpPr>
        <p:grpSpPr>
          <a:xfrm>
            <a:off x="4716631" y="2216829"/>
            <a:ext cx="987289" cy="944851"/>
            <a:chOff x="0" y="0"/>
            <a:chExt cx="987288" cy="944849"/>
          </a:xfrm>
        </p:grpSpPr>
        <p:sp>
          <p:nvSpPr>
            <p:cNvPr id="197" name="Google Shape;172;p22"/>
            <p:cNvSpPr txBox="1"/>
            <p:nvPr/>
          </p:nvSpPr>
          <p:spPr>
            <a:xfrm>
              <a:off x="0" y="0"/>
              <a:ext cx="810901" cy="9448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 sz="4600">
                  <a:solidFill>
                    <a:schemeClr val="accent3"/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pPr/>
              <a:r>
                <a:t>🗨️</a:t>
              </a:r>
            </a:p>
          </p:txBody>
        </p:sp>
        <p:sp>
          <p:nvSpPr>
            <p:cNvPr id="198" name="Google Shape;173;p22"/>
            <p:cNvSpPr txBox="1"/>
            <p:nvPr/>
          </p:nvSpPr>
          <p:spPr>
            <a:xfrm>
              <a:off x="138587" y="181899"/>
              <a:ext cx="848702" cy="3987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24" tIns="91424" rIns="91424" bIns="91424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defRPr>
              </a:lvl1pPr>
            </a:lstStyle>
            <a:p>
              <a:pPr/>
              <a:r>
                <a:t>50%</a:t>
              </a:r>
            </a:p>
          </p:txBody>
        </p:sp>
      </p:grpSp>
      <p:sp>
        <p:nvSpPr>
          <p:cNvPr id="200" name="Google Shape;174;p22"/>
          <p:cNvSpPr txBox="1"/>
          <p:nvPr/>
        </p:nvSpPr>
        <p:spPr>
          <a:xfrm>
            <a:off x="136074" y="1487584"/>
            <a:ext cx="2321100" cy="767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1800">
                <a:solidFill>
                  <a:srgbClr val="D9D9D9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POST /files</a:t>
            </a:r>
            <a:br/>
            <a:r>
              <a:t>Length: 20,000</a:t>
            </a:r>
          </a:p>
        </p:txBody>
      </p:sp>
      <p:sp>
        <p:nvSpPr>
          <p:cNvPr id="201" name="Google Shape;175;p22"/>
          <p:cNvSpPr txBox="1"/>
          <p:nvPr/>
        </p:nvSpPr>
        <p:spPr>
          <a:xfrm>
            <a:off x="136081" y="2548054"/>
            <a:ext cx="2441402" cy="474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800">
                <a:solidFill>
                  <a:srgbClr val="D9D9D9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</a:lstStyle>
          <a:p>
            <a:pPr/>
            <a:r>
              <a:t>HEAD /files/123</a:t>
            </a:r>
          </a:p>
        </p:txBody>
      </p:sp>
      <p:sp>
        <p:nvSpPr>
          <p:cNvPr id="202" name="Google Shape;176;p22"/>
          <p:cNvSpPr txBox="1"/>
          <p:nvPr/>
        </p:nvSpPr>
        <p:spPr>
          <a:xfrm>
            <a:off x="136081" y="3511520"/>
            <a:ext cx="2441402" cy="767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>
              <a:defRPr sz="1800">
                <a:solidFill>
                  <a:srgbClr val="D9D9D9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PATCH /files/123</a:t>
            </a:r>
            <a:br/>
            <a:r>
              <a:t>Offset: 10,000</a:t>
            </a:r>
          </a:p>
        </p:txBody>
      </p:sp>
      <p:sp>
        <p:nvSpPr>
          <p:cNvPr id="203" name="Google Shape;177;p22"/>
          <p:cNvSpPr txBox="1"/>
          <p:nvPr/>
        </p:nvSpPr>
        <p:spPr>
          <a:xfrm>
            <a:off x="6195257" y="2615630"/>
            <a:ext cx="2553601" cy="474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800">
                <a:solidFill>
                  <a:srgbClr val="D9D9D9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</a:lstStyle>
          <a:p>
            <a:pPr/>
            <a:r>
              <a:t>Offset: 10,000</a:t>
            </a:r>
          </a:p>
        </p:txBody>
      </p:sp>
      <p:sp>
        <p:nvSpPr>
          <p:cNvPr id="204" name="Google Shape;178;p22"/>
          <p:cNvSpPr txBox="1"/>
          <p:nvPr/>
        </p:nvSpPr>
        <p:spPr>
          <a:xfrm>
            <a:off x="6107207" y="1506580"/>
            <a:ext cx="3052801" cy="474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800">
                <a:solidFill>
                  <a:srgbClr val="D9D9D9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</a:lstStyle>
          <a:p>
            <a:pPr/>
            <a:r>
              <a:t>Location: /files/123</a:t>
            </a:r>
          </a:p>
        </p:txBody>
      </p:sp>
      <p:sp>
        <p:nvSpPr>
          <p:cNvPr id="205" name="Google Shape;179;p22"/>
          <p:cNvSpPr txBox="1"/>
          <p:nvPr/>
        </p:nvSpPr>
        <p:spPr>
          <a:xfrm>
            <a:off x="6523746" y="762508"/>
            <a:ext cx="3052801" cy="843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algn="ctr">
              <a:defRPr sz="1800">
                <a:solidFill>
                  <a:srgbClr val="D9D9D9"/>
                </a:solidFill>
                <a:latin typeface="Open Sans Regular Bold"/>
                <a:ea typeface="Open Sans Regular Bold"/>
                <a:cs typeface="Open Sans Regular Bold"/>
                <a:sym typeface="Open Sans Regular Bold"/>
              </a:defRPr>
            </a:pPr>
            <a:r>
              <a:t>Upload resource</a:t>
            </a:r>
          </a:p>
          <a:p>
            <a:pPr algn="ctr">
              <a:defRPr sz="1800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👇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8" grpId="3"/>
      <p:bldP build="whole" bldLvl="1" animBg="1" rev="0" advAuto="0" spid="189" grpId="4"/>
      <p:bldP build="whole" bldLvl="1" animBg="1" rev="0" advAuto="0" spid="201" grpId="6"/>
      <p:bldP build="whole" bldLvl="1" animBg="1" rev="0" advAuto="0" spid="192" grpId="11"/>
      <p:bldP build="whole" bldLvl="1" animBg="1" rev="0" advAuto="0" spid="205" grpId="2"/>
      <p:bldP build="whole" bldLvl="1" animBg="1" rev="0" advAuto="0" spid="190" grpId="9"/>
      <p:bldP build="whole" bldLvl="1" animBg="1" rev="0" advAuto="0" spid="182" grpId="12"/>
      <p:bldP build="whole" bldLvl="1" animBg="1" rev="0" advAuto="0" spid="199" grpId="7"/>
      <p:bldP build="whole" bldLvl="1" animBg="1" rev="0" advAuto="0" spid="196" grpId="5"/>
      <p:bldP build="whole" bldLvl="1" animBg="1" rev="0" advAuto="0" spid="193" grpId="14"/>
      <p:bldP build="whole" bldLvl="1" animBg="1" rev="0" advAuto="0" spid="203" grpId="8"/>
      <p:bldP build="whole" bldLvl="1" animBg="1" rev="0" advAuto="0" spid="204" grpId="1"/>
      <p:bldP build="whole" bldLvl="1" animBg="1" rev="0" advAuto="0" spid="191" grpId="10"/>
      <p:bldP build="whole" bldLvl="1" animBg="1" rev="0" advAuto="0" spid="202" grpId="13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184;p23"/>
          <p:cNvSpPr txBox="1"/>
          <p:nvPr>
            <p:ph type="body" sz="quarter" idx="1"/>
          </p:nvPr>
        </p:nvSpPr>
        <p:spPr>
          <a:xfrm>
            <a:off x="1939200" y="1263930"/>
            <a:ext cx="2516402" cy="341640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50000"/>
              </a:lnSpc>
              <a:buSzTx/>
              <a:buNone/>
              <a:defRPr sz="1800"/>
            </a:pPr>
            <a:r>
              <a:t>JavaScript*</a:t>
            </a:r>
          </a:p>
          <a:p>
            <a:pPr marL="0" indent="0">
              <a:lnSpc>
                <a:spcPct val="150000"/>
              </a:lnSpc>
              <a:buSzTx/>
              <a:buNone/>
              <a:defRPr sz="1800"/>
            </a:pPr>
            <a:r>
              <a:t>Java</a:t>
            </a:r>
          </a:p>
          <a:p>
            <a:pPr marL="0" indent="0">
              <a:lnSpc>
                <a:spcPct val="150000"/>
              </a:lnSpc>
              <a:buSzTx/>
              <a:buNone/>
              <a:defRPr sz="1800"/>
            </a:pPr>
            <a:r>
              <a:t>Android</a:t>
            </a:r>
          </a:p>
          <a:p>
            <a:pPr marL="0" indent="0">
              <a:lnSpc>
                <a:spcPct val="150000"/>
              </a:lnSpc>
              <a:buSzTx/>
              <a:buNone/>
              <a:defRPr sz="1800"/>
            </a:pPr>
            <a:r>
              <a:t>iOS</a:t>
            </a:r>
          </a:p>
          <a:p>
            <a:pPr marL="0" indent="0">
              <a:lnSpc>
                <a:spcPct val="150000"/>
              </a:lnSpc>
              <a:buSzTx/>
              <a:buNone/>
              <a:defRPr sz="1800"/>
            </a:pPr>
            <a:r>
              <a:t>&amp; many more…</a:t>
            </a:r>
          </a:p>
        </p:txBody>
      </p:sp>
      <p:sp>
        <p:nvSpPr>
          <p:cNvPr id="208" name="Google Shape;185;p23"/>
          <p:cNvSpPr txBox="1"/>
          <p:nvPr>
            <p:ph type="sldNum" sz="quarter" idx="2"/>
          </p:nvPr>
        </p:nvSpPr>
        <p:spPr>
          <a:xfrm>
            <a:off x="8680376" y="4679691"/>
            <a:ext cx="340783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9" name="Google Shape;186;p23"/>
          <p:cNvSpPr txBox="1"/>
          <p:nvPr>
            <p:ph type="body" idx="21"/>
          </p:nvPr>
        </p:nvSpPr>
        <p:spPr>
          <a:xfrm>
            <a:off x="6006367" y="1217775"/>
            <a:ext cx="2924701" cy="2220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822959">
              <a:lnSpc>
                <a:spcPct val="150000"/>
              </a:lnSpc>
              <a:buSzTx/>
              <a:buFont typeface="Proxima Nova"/>
              <a:buNone/>
              <a:defRPr sz="1619"/>
            </a:pPr>
            <a:r>
              <a:t>Node.js</a:t>
            </a:r>
          </a:p>
          <a:p>
            <a:pPr marL="0" indent="0" defTabSz="822959">
              <a:lnSpc>
                <a:spcPct val="150000"/>
              </a:lnSpc>
              <a:buSzTx/>
              <a:buFont typeface="Proxima Nova"/>
              <a:buNone/>
              <a:defRPr sz="1619"/>
            </a:pPr>
            <a:r>
              <a:t>Go</a:t>
            </a:r>
          </a:p>
          <a:p>
            <a:pPr marL="0" indent="0" defTabSz="822959">
              <a:lnSpc>
                <a:spcPct val="150000"/>
              </a:lnSpc>
              <a:buSzTx/>
              <a:buFont typeface="Proxima Nova"/>
              <a:buNone/>
              <a:defRPr sz="1619"/>
            </a:pPr>
            <a:r>
              <a:t>Java</a:t>
            </a:r>
          </a:p>
          <a:p>
            <a:pPr marL="0" indent="0" defTabSz="822959">
              <a:lnSpc>
                <a:spcPct val="150000"/>
              </a:lnSpc>
              <a:buSzTx/>
              <a:buFont typeface="Proxima Nova"/>
              <a:buNone/>
              <a:defRPr sz="1619"/>
            </a:pPr>
            <a:r>
              <a:t>.NET</a:t>
            </a:r>
          </a:p>
          <a:p>
            <a:pPr marL="0" indent="0" defTabSz="822959">
              <a:lnSpc>
                <a:spcPct val="150000"/>
              </a:lnSpc>
              <a:buSzTx/>
              <a:buFont typeface="Proxima Nova"/>
              <a:buNone/>
              <a:defRPr sz="1619"/>
            </a:pPr>
            <a:r>
              <a:t>&amp; many more…</a:t>
            </a:r>
          </a:p>
        </p:txBody>
      </p:sp>
      <p:pic>
        <p:nvPicPr>
          <p:cNvPr id="210" name="Google Shape;187;p23" descr="Google Shape;187;p2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21050" y="508494"/>
            <a:ext cx="901875" cy="1508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Google Shape;188;p23" descr="Google Shape;188;p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91457" y="1357539"/>
            <a:ext cx="282342" cy="282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Google Shape;189;p23" descr="Google Shape;189;p23"/>
          <p:cNvPicPr>
            <a:picLocks noChangeAspect="1"/>
          </p:cNvPicPr>
          <p:nvPr/>
        </p:nvPicPr>
        <p:blipFill>
          <a:blip r:embed="rId4">
            <a:extLst/>
          </a:blip>
          <a:srcRect l="0" t="0" r="0" b="26627"/>
          <a:stretch>
            <a:fillRect/>
          </a:stretch>
        </p:blipFill>
        <p:spPr>
          <a:xfrm>
            <a:off x="1600854" y="1733519"/>
            <a:ext cx="263548" cy="3546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Google Shape;190;p23" descr="Google Shape;190;p2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535826" y="2212827"/>
            <a:ext cx="393599" cy="229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Google Shape;191;p23" descr="Google Shape;191;p2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591460" y="2569859"/>
            <a:ext cx="282343" cy="282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Google Shape;192;p23" descr="Google Shape;192;p23"/>
          <p:cNvPicPr>
            <a:picLocks noChangeAspect="1"/>
          </p:cNvPicPr>
          <p:nvPr/>
        </p:nvPicPr>
        <p:blipFill>
          <a:blip r:embed="rId4">
            <a:extLst/>
          </a:blip>
          <a:srcRect l="0" t="0" r="0" b="26627"/>
          <a:stretch>
            <a:fillRect/>
          </a:stretch>
        </p:blipFill>
        <p:spPr>
          <a:xfrm>
            <a:off x="5675555" y="2069863"/>
            <a:ext cx="278433" cy="3746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Google Shape;193;p23" descr="Google Shape;193;p2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665628" y="1310842"/>
            <a:ext cx="298286" cy="298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Go.pngGoogle Shape;194;p23" descr="Go.pngGoogle Shape;194;p2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483021" y="1642890"/>
            <a:ext cx="523344" cy="4617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Google Shape;195;p23" descr="Google Shape;195;p23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665628" y="2553909"/>
            <a:ext cx="298285" cy="298285"/>
          </a:xfrm>
          <a:prstGeom prst="rect">
            <a:avLst/>
          </a:prstGeom>
          <a:ln w="12700">
            <a:miter lim="400000"/>
          </a:ln>
        </p:spPr>
      </p:pic>
      <p:sp>
        <p:nvSpPr>
          <p:cNvPr id="219" name="Google Shape;196;p23"/>
          <p:cNvSpPr txBox="1"/>
          <p:nvPr>
            <p:ph type="title"/>
          </p:nvPr>
        </p:nvSpPr>
        <p:spPr>
          <a:xfrm>
            <a:off x="1929425" y="647617"/>
            <a:ext cx="15372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Tus clients</a:t>
            </a:r>
          </a:p>
        </p:txBody>
      </p:sp>
      <p:sp>
        <p:nvSpPr>
          <p:cNvPr id="220" name="Google Shape;197;p23"/>
          <p:cNvSpPr txBox="1"/>
          <p:nvPr/>
        </p:nvSpPr>
        <p:spPr>
          <a:xfrm>
            <a:off x="6006377" y="647624"/>
            <a:ext cx="2013901" cy="572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>
            <a:lvl1pPr defTabSz="859536">
              <a:defRPr sz="2350">
                <a:solidFill>
                  <a:srgbClr val="FFFFFF"/>
                </a:solidFill>
                <a:latin typeface="Crimson Text Regular"/>
                <a:ea typeface="Crimson Text Regular"/>
                <a:cs typeface="Crimson Text Regular"/>
                <a:sym typeface="Crimson Text Regular"/>
              </a:defRPr>
            </a:lvl1pPr>
          </a:lstStyle>
          <a:p>
            <a:pPr/>
            <a:r>
              <a:t>Tus servers</a:t>
            </a:r>
          </a:p>
        </p:txBody>
      </p:sp>
      <p:sp>
        <p:nvSpPr>
          <p:cNvPr id="221" name="Google Shape;198;p23"/>
          <p:cNvSpPr txBox="1"/>
          <p:nvPr/>
        </p:nvSpPr>
        <p:spPr>
          <a:xfrm>
            <a:off x="1551599" y="3641616"/>
            <a:ext cx="6040802" cy="102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defTabSz="859536">
              <a:lnSpc>
                <a:spcPct val="150000"/>
              </a:lnSpc>
              <a:defRPr sz="1692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⚠️  Every application needs their own client</a:t>
            </a:r>
          </a:p>
          <a:p>
            <a:pPr defTabSz="859536">
              <a:lnSpc>
                <a:spcPct val="150000"/>
              </a:lnSpc>
              <a:defRPr sz="1692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⚠️  Restrictions from the environment limit capabilities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03;p24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Making it official</a:t>
            </a:r>
          </a:p>
        </p:txBody>
      </p:sp>
      <p:sp>
        <p:nvSpPr>
          <p:cNvPr id="224" name="Google Shape;204;p24"/>
          <p:cNvSpPr txBox="1"/>
          <p:nvPr>
            <p:ph type="body" idx="1"/>
          </p:nvPr>
        </p:nvSpPr>
        <p:spPr>
          <a:xfrm>
            <a:off x="311699" y="1152475"/>
            <a:ext cx="5507402" cy="34164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t>In 2022 the HTTP WG at the IETF adopted a resumable uploads extension for HTTP</a:t>
            </a:r>
          </a:p>
          <a:p>
            <a:pPr lvl="1" marL="914400" indent="-317500">
              <a:lnSpc>
                <a:spcPct val="150000"/>
              </a:lnSpc>
              <a:buSzPts val="1400"/>
              <a:buChar char="→"/>
              <a:defRPr sz="1400"/>
            </a:pPr>
            <a:r>
              <a:t>Bring resumable uploads into HTTP implementations: clients, servers, proxies etc.</a:t>
            </a:r>
          </a:p>
          <a:p>
            <a:pPr lvl="1" marL="914400" indent="-317500">
              <a:lnSpc>
                <a:spcPct val="150000"/>
              </a:lnSpc>
              <a:buSzPts val="1400"/>
              <a:buChar char="→"/>
              <a:defRPr sz="1400"/>
            </a:pPr>
            <a:r>
              <a:t>Get more stakeholders involved</a:t>
            </a:r>
          </a:p>
          <a:p>
            <a:pPr>
              <a:lnSpc>
                <a:spcPct val="150000"/>
              </a:lnSpc>
            </a:pPr>
            <a:r>
              <a:t>Currently in Working Group Last Call</a:t>
            </a:r>
          </a:p>
          <a:p>
            <a:pPr>
              <a:lnSpc>
                <a:spcPct val="150000"/>
              </a:lnSpc>
            </a:pPr>
            <a:r>
              <a:t>Already implemented in Swift’s URLSession</a:t>
            </a:r>
          </a:p>
          <a:p>
            <a:pPr>
              <a:lnSpc>
                <a:spcPct val="150000"/>
              </a:lnSpc>
            </a:pPr>
            <a:r>
              <a:t>Transparent fallback to “classic” uploads</a:t>
            </a:r>
          </a:p>
        </p:txBody>
      </p:sp>
      <p:sp>
        <p:nvSpPr>
          <p:cNvPr id="225" name="Google Shape;205;p24"/>
          <p:cNvSpPr txBox="1"/>
          <p:nvPr>
            <p:ph type="sldNum" sz="quarter" idx="2"/>
          </p:nvPr>
        </p:nvSpPr>
        <p:spPr>
          <a:xfrm>
            <a:off x="8680376" y="4679691"/>
            <a:ext cx="340783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26" name="frame_generic_light.pngGoogle Shape;206;p24" descr="frame_generic_light.pngGoogle Shape;206;p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4217" y="545055"/>
            <a:ext cx="3175088" cy="51434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11;p25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Let’s bring it into browsers!</a:t>
            </a:r>
          </a:p>
        </p:txBody>
      </p:sp>
      <p:sp>
        <p:nvSpPr>
          <p:cNvPr id="229" name="Google Shape;212;p25"/>
          <p:cNvSpPr txBox="1"/>
          <p:nvPr>
            <p:ph type="body" sz="half" idx="1"/>
          </p:nvPr>
        </p:nvSpPr>
        <p:spPr>
          <a:xfrm>
            <a:off x="311699" y="1152475"/>
            <a:ext cx="4378802" cy="3416400"/>
          </a:xfrm>
          <a:prstGeom prst="rect">
            <a:avLst/>
          </a:prstGeom>
        </p:spPr>
        <p:txBody>
          <a:bodyPr/>
          <a:lstStyle/>
          <a:p>
            <a:pPr marL="438911" indent="-329184" defTabSz="877823">
              <a:buSzPts val="1700"/>
              <a:defRPr sz="1727"/>
            </a:pPr>
            <a:r>
              <a:t>No more JS library needed</a:t>
            </a:r>
          </a:p>
          <a:p>
            <a:pPr marL="438911" indent="-329184" defTabSz="877823">
              <a:spcBef>
                <a:spcPts val="900"/>
              </a:spcBef>
              <a:buSzPts val="1700"/>
              <a:defRPr sz="1727"/>
            </a:pPr>
            <a:r>
              <a:t>Progressively enhance uploads to be resumable</a:t>
            </a:r>
          </a:p>
          <a:p>
            <a:pPr marL="438911" indent="-329184" defTabSz="877823">
              <a:spcBef>
                <a:spcPts val="900"/>
              </a:spcBef>
              <a:buSzPts val="1700"/>
              <a:defRPr sz="1727"/>
            </a:pPr>
            <a:r>
              <a:t>Browser could …</a:t>
            </a:r>
          </a:p>
          <a:p>
            <a:pPr lvl="1" marL="877823" indent="-329184" defTabSz="877823">
              <a:spcBef>
                <a:spcPts val="900"/>
              </a:spcBef>
              <a:buSzPts val="1700"/>
              <a:defRPr sz="1727"/>
            </a:pPr>
            <a:r>
              <a:t>pause uploads to prioritize real-time traffic</a:t>
            </a:r>
          </a:p>
          <a:p>
            <a:pPr lvl="1" marL="877823" indent="-329184" defTabSz="877823">
              <a:spcBef>
                <a:spcPts val="900"/>
              </a:spcBef>
              <a:buSzPts val="1700"/>
              <a:defRPr sz="1727"/>
            </a:pPr>
            <a:r>
              <a:t>resume upload when device awakes</a:t>
            </a:r>
          </a:p>
        </p:txBody>
      </p:sp>
      <p:sp>
        <p:nvSpPr>
          <p:cNvPr id="230" name="Google Shape;213;p25"/>
          <p:cNvSpPr txBox="1"/>
          <p:nvPr>
            <p:ph type="sldNum" sz="quarter" idx="2"/>
          </p:nvPr>
        </p:nvSpPr>
        <p:spPr>
          <a:xfrm>
            <a:off x="8680376" y="4679691"/>
            <a:ext cx="340783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1" name="Google Shape;214;p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>
              <a:lnSpc>
                <a:spcPct val="104999"/>
              </a:lnSpc>
              <a:buSzTx/>
              <a:buFont typeface="Proxima Nova"/>
              <a:buNone/>
              <a:defRPr sz="2400">
                <a:solidFill>
                  <a:srgbClr val="4DD0E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await</a:t>
            </a:r>
            <a:r>
              <a:rPr>
                <a:solidFill>
                  <a:srgbClr val="CE93D8"/>
                </a:solidFill>
              </a:rPr>
              <a:t> fetch</a:t>
            </a:r>
            <a:r>
              <a:rPr>
                <a:solidFill>
                  <a:srgbClr val="ECEFF1"/>
                </a:solidFill>
              </a:rPr>
              <a:t>(url, {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4999"/>
              </a:lnSpc>
              <a:spcBef>
                <a:spcPts val="1200"/>
              </a:spcBef>
              <a:buSzTx/>
              <a:buFont typeface="Proxima Nova"/>
              <a:buNone/>
              <a:defRPr sz="2400">
                <a:solidFill>
                  <a:srgbClr val="ECEFF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  method: </a:t>
            </a:r>
            <a:r>
              <a:rPr>
                <a:solidFill>
                  <a:srgbClr val="9CCC65"/>
                </a:solidFill>
              </a:rPr>
              <a:t>"POST"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4999"/>
              </a:lnSpc>
              <a:spcBef>
                <a:spcPts val="1200"/>
              </a:spcBef>
              <a:buSzTx/>
              <a:buFont typeface="Proxima Nova"/>
              <a:buNone/>
              <a:defRPr sz="2400">
                <a:solidFill>
                  <a:srgbClr val="ECEFF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  body: file,</a:t>
            </a:r>
            <a:endParaRPr>
              <a:solidFill>
                <a:srgbClr val="000000"/>
              </a:solidFill>
            </a:endParaRPr>
          </a:p>
          <a:p>
            <a:pPr marL="0" indent="0">
              <a:lnSpc>
                <a:spcPct val="104999"/>
              </a:lnSpc>
              <a:spcBef>
                <a:spcPts val="1200"/>
              </a:spcBef>
              <a:buSzTx/>
              <a:buFont typeface="Proxima Nova"/>
              <a:buNone/>
              <a:defRPr sz="2400">
                <a:solidFill>
                  <a:srgbClr val="ECEFF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  </a:t>
            </a:r>
            <a:r>
              <a:rPr b="1"/>
              <a:t>resumable: </a:t>
            </a:r>
            <a:r>
              <a:rPr b="1">
                <a:solidFill>
                  <a:srgbClr val="FBC02D"/>
                </a:solidFill>
              </a:rPr>
              <a:t>true</a:t>
            </a:r>
            <a:r>
              <a:rPr b="1"/>
              <a:t>,</a:t>
            </a:r>
            <a:endParaRPr b="1">
              <a:solidFill>
                <a:srgbClr val="000000"/>
              </a:solidFill>
            </a:endParaRPr>
          </a:p>
          <a:p>
            <a:pPr marL="0" indent="0">
              <a:lnSpc>
                <a:spcPct val="140000"/>
              </a:lnSpc>
              <a:spcBef>
                <a:spcPts val="1200"/>
              </a:spcBef>
              <a:buSzTx/>
              <a:buFont typeface="Proxima Nova"/>
              <a:buNone/>
              <a:defRPr sz="2400">
                <a:solidFill>
                  <a:srgbClr val="ECEFF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pPr>
            <a:r>
              <a:t>})</a:t>
            </a:r>
          </a:p>
        </p:txBody>
      </p:sp>
      <p:sp>
        <p:nvSpPr>
          <p:cNvPr id="232" name="Google Shape;215;p25"/>
          <p:cNvSpPr txBox="1"/>
          <p:nvPr/>
        </p:nvSpPr>
        <p:spPr>
          <a:xfrm>
            <a:off x="5106692" y="4058141"/>
            <a:ext cx="3361800" cy="380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/>
          <a:p>
            <a:pPr algn="ctr">
              <a:defRPr u="sng">
                <a:solidFill>
                  <a:srgbClr val="48AA92"/>
                </a:solidFill>
              </a:defRPr>
            </a:pPr>
            <a:r>
              <a:rPr>
                <a:uFill>
                  <a:solidFill>
                    <a:srgbClr val="48AA92"/>
                  </a:solidFill>
                </a:uFill>
                <a:hlinkClick r:id="rId2" invalidUrl="" action="" tgtFrame="" tooltip="" history="1" highlightClick="0" endSnd="0"/>
              </a:rPr>
              <a:t>github.com/whatwg/fetch/issues/1626</a:t>
            </a:r>
            <a:r>
              <a:rPr u="none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20;p26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 defTabSz="859536">
              <a:defRPr sz="2350"/>
            </a:lvl1pPr>
          </a:lstStyle>
          <a:p>
            <a:pPr/>
            <a:r>
              <a:t>Key takeways</a:t>
            </a:r>
          </a:p>
        </p:txBody>
      </p:sp>
      <p:sp>
        <p:nvSpPr>
          <p:cNvPr id="235" name="Google Shape;221;p26"/>
          <p:cNvSpPr txBox="1"/>
          <p:nvPr>
            <p:ph type="body" sz="half" idx="1"/>
          </p:nvPr>
        </p:nvSpPr>
        <p:spPr>
          <a:xfrm>
            <a:off x="1243200" y="1213675"/>
            <a:ext cx="6657600" cy="2226301"/>
          </a:xfrm>
          <a:prstGeom prst="rect">
            <a:avLst/>
          </a:prstGeom>
        </p:spPr>
        <p:txBody>
          <a:bodyPr/>
          <a:lstStyle/>
          <a:p>
            <a:pPr marL="0" indent="0" defTabSz="740663">
              <a:lnSpc>
                <a:spcPct val="103500"/>
              </a:lnSpc>
              <a:buSzTx/>
              <a:buNone/>
              <a:defRPr sz="1458"/>
            </a:pPr>
            <a:r>
              <a:t>1️⃣  Resumable uploads improve user experience</a:t>
            </a:r>
            <a:endParaRPr sz="1215">
              <a:solidFill>
                <a:srgbClr val="B7B7B7"/>
              </a:solidFill>
            </a:endParaRPr>
          </a:p>
          <a:p>
            <a:pPr marL="0" indent="0" defTabSz="740663">
              <a:lnSpc>
                <a:spcPct val="103500"/>
              </a:lnSpc>
              <a:spcBef>
                <a:spcPts val="800"/>
              </a:spcBef>
              <a:buSzTx/>
              <a:buNone/>
              <a:defRPr sz="1458"/>
            </a:pPr>
            <a:r>
              <a:t>2️⃣  OSS projects make integration easy today: </a:t>
            </a:r>
            <a:r>
              <a:rPr u="sng">
                <a:solidFill>
                  <a:srgbClr val="48AA92"/>
                </a:solidFill>
                <a:uFill>
                  <a:solidFill>
                    <a:srgbClr val="48AA92"/>
                  </a:solidFill>
                </a:uFill>
                <a:hlinkClick r:id="rId2" invalidUrl="" action="" tgtFrame="" tooltip="" history="1" highlightClick="0" endSnd="0"/>
              </a:rPr>
              <a:t>tus.io</a:t>
            </a:r>
            <a:r>
              <a:t> </a:t>
            </a:r>
          </a:p>
          <a:p>
            <a:pPr marL="0" indent="0" defTabSz="740663">
              <a:lnSpc>
                <a:spcPct val="103500"/>
              </a:lnSpc>
              <a:spcBef>
                <a:spcPts val="900"/>
              </a:spcBef>
              <a:buSzTx/>
              <a:buNone/>
              <a:defRPr sz="1458"/>
            </a:pPr>
            <a:r>
              <a:t>3️⃣  Support is coming to a device next to you!</a:t>
            </a:r>
          </a:p>
          <a:p>
            <a:pPr marL="0" indent="0" defTabSz="740663">
              <a:lnSpc>
                <a:spcPct val="103500"/>
              </a:lnSpc>
              <a:spcBef>
                <a:spcPts val="900"/>
              </a:spcBef>
              <a:buSzTx/>
              <a:buNone/>
              <a:defRPr sz="1458"/>
            </a:pPr>
            <a:r>
              <a:t>4️⃣  You can start your own protocol today and … </a:t>
            </a:r>
          </a:p>
          <a:p>
            <a:pPr marL="0" indent="0" defTabSz="740663">
              <a:lnSpc>
                <a:spcPct val="103500"/>
              </a:lnSpc>
              <a:spcBef>
                <a:spcPts val="900"/>
              </a:spcBef>
              <a:buSzTx/>
              <a:buNone/>
              <a:defRPr sz="1458"/>
            </a:pPr>
            <a:r>
              <a:t>5️⃣ … let it mature at the IETF, W3C, WHATWG etc.</a:t>
            </a:r>
          </a:p>
        </p:txBody>
      </p:sp>
      <p:sp>
        <p:nvSpPr>
          <p:cNvPr id="236" name="Google Shape;222;p26"/>
          <p:cNvSpPr txBox="1"/>
          <p:nvPr>
            <p:ph type="sldNum" sz="quarter" idx="2"/>
          </p:nvPr>
        </p:nvSpPr>
        <p:spPr>
          <a:xfrm>
            <a:off x="8680376" y="4679691"/>
            <a:ext cx="340783" cy="36065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37" name="Google Shape;223;p26"/>
          <p:cNvSpPr txBox="1"/>
          <p:nvPr/>
        </p:nvSpPr>
        <p:spPr>
          <a:xfrm>
            <a:off x="436800" y="3624324"/>
            <a:ext cx="2350800" cy="1038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 defTabSz="758951">
              <a:lnSpc>
                <a:spcPct val="115000"/>
              </a:lnSpc>
              <a:defRPr sz="913">
                <a:solidFill>
                  <a:srgbClr val="FFFFFF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🌐</a:t>
            </a:r>
            <a:r>
              <a:rPr>
                <a:solidFill>
                  <a:srgbClr val="D9D9D9"/>
                </a:solidFill>
              </a:rPr>
              <a:t> </a:t>
            </a:r>
            <a:r>
              <a:rPr u="sng">
                <a:solidFill>
                  <a:srgbClr val="48AA92"/>
                </a:solidFill>
                <a:uFill>
                  <a:solidFill>
                    <a:srgbClr val="48AA92"/>
                  </a:solidFill>
                </a:uFill>
                <a:hlinkClick r:id="rId3" invalidUrl="" action="" tgtFrame="" tooltip="" history="1" highlightClick="0" endSnd="0"/>
              </a:rPr>
              <a:t>mariuskleidl.net</a:t>
            </a:r>
            <a:endParaRPr>
              <a:solidFill>
                <a:srgbClr val="D9D9D9"/>
              </a:solidFill>
            </a:endParaRPr>
          </a:p>
          <a:p>
            <a:pPr defTabSz="758951">
              <a:spcBef>
                <a:spcPts val="900"/>
              </a:spcBef>
              <a:defRPr sz="913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📧 </a:t>
            </a:r>
            <a:r>
              <a:rPr u="sng">
                <a:solidFill>
                  <a:srgbClr val="48AA92"/>
                </a:solidFill>
                <a:uFill>
                  <a:solidFill>
                    <a:srgbClr val="48AA92"/>
                  </a:solidFill>
                </a:uFill>
                <a:hlinkClick r:id="rId4" invalidUrl="" action="" tgtFrame="" tooltip="" history="1" highlightClick="0" endSnd="0"/>
              </a:rPr>
              <a:t>hello@mariuskleidl.net</a:t>
            </a:r>
          </a:p>
          <a:p>
            <a:pPr defTabSz="758951">
              <a:spcBef>
                <a:spcPts val="900"/>
              </a:spcBef>
              <a:defRPr sz="913">
                <a:solidFill>
                  <a:srgbClr val="D9D9D9"/>
                </a:solidFill>
                <a:latin typeface="Open Sans Regular Regular"/>
                <a:ea typeface="Open Sans Regular Regular"/>
                <a:cs typeface="Open Sans Regular Regular"/>
                <a:sym typeface="Open Sans Regular Regular"/>
              </a:defRPr>
            </a:pPr>
            <a:r>
              <a:t>🟦 </a:t>
            </a:r>
            <a:r>
              <a:rPr u="sng">
                <a:solidFill>
                  <a:srgbClr val="48AA92"/>
                </a:solidFill>
                <a:uFill>
                  <a:solidFill>
                    <a:srgbClr val="48AA92"/>
                  </a:solidFill>
                </a:uFill>
                <a:hlinkClick r:id="rId5" invalidUrl="" action="" tgtFrame="" tooltip="" history="1" highlightClick="0" endSnd="0"/>
              </a:rPr>
              <a:t>linkedin.com/in/marius-kleidl</a:t>
            </a:r>
            <a:r>
              <a:t> </a:t>
            </a:r>
          </a:p>
        </p:txBody>
      </p:sp>
      <p:pic>
        <p:nvPicPr>
          <p:cNvPr id="238" name="profile.jpgGoogle Shape;224;p26" descr="profile.jpgGoogle Shape;224;p26"/>
          <p:cNvPicPr>
            <a:picLocks noChangeAspect="1"/>
          </p:cNvPicPr>
          <p:nvPr/>
        </p:nvPicPr>
        <p:blipFill>
          <a:blip r:embed="rId6">
            <a:extLst/>
          </a:blip>
          <a:srcRect l="0" t="0" r="2" b="2"/>
          <a:stretch>
            <a:fillRect/>
          </a:stretch>
        </p:blipFill>
        <p:spPr>
          <a:xfrm>
            <a:off x="7312375" y="3503150"/>
            <a:ext cx="1160066" cy="11600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4" y="0"/>
                </a:moveTo>
                <a:cubicBezTo>
                  <a:pt x="4839" y="0"/>
                  <a:pt x="0" y="4839"/>
                  <a:pt x="0" y="10804"/>
                </a:cubicBezTo>
                <a:cubicBezTo>
                  <a:pt x="0" y="16769"/>
                  <a:pt x="4839" y="21600"/>
                  <a:pt x="10804" y="21600"/>
                </a:cubicBezTo>
                <a:cubicBezTo>
                  <a:pt x="16769" y="21600"/>
                  <a:pt x="21600" y="16769"/>
                  <a:pt x="21600" y="10804"/>
                </a:cubicBezTo>
                <a:cubicBezTo>
                  <a:pt x="21600" y="4839"/>
                  <a:pt x="16769" y="0"/>
                  <a:pt x="10804" y="0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nodeType="with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35" grpId="1"/>
      <p:bldP build="whole" bldLvl="1" animBg="1" rev="0" advAuto="0" spid="238" grpId="2"/>
      <p:bldP build="whole" bldLvl="1" animBg="1" rev="0" advAuto="0" spid="237" grpId="3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202729"/>
      </a:lt1>
      <a:dk2>
        <a:srgbClr val="A7A7A7"/>
      </a:dk2>
      <a:lt2>
        <a:srgbClr val="535353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0000FF"/>
      </a:hlink>
      <a:folHlink>
        <a:srgbClr val="FF00FF"/>
      </a:folHlink>
    </a:clrScheme>
    <a:fontScheme name="Spearmin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pearm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20272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20272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0000FF"/>
      </a:hlink>
      <a:folHlink>
        <a:srgbClr val="FF00FF"/>
      </a:folHlink>
    </a:clrScheme>
    <a:fontScheme name="Spearmin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pearm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20272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202729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